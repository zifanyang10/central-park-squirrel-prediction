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03a178b4e6f4403" /><Relationship Type="http://schemas.openxmlformats.org/officeDocument/2006/relationships/extended-properties" Target="/docProps/app.xml" Id="R2df7b2395e4e4f2d" /><Relationship Type="http://schemas.openxmlformats.org/officeDocument/2006/relationships/officeDocument" Target="/ppt/presentation.xml" Id="R2d6eb82ccd1e446a" /></Relationships>
</file>

<file path=ppt/presentation.xml><?xml version="1.0" encoding="utf-8"?>
<p:presentation xmlns:p="http://schemas.openxmlformats.org/presentationml/2006/main">
  <p:sldMasterIdLst>
    <p:sldMasterId xmlns:r="http://schemas.openxmlformats.org/officeDocument/2006/relationships" id="2147483648" r:id="R22582901e3f24c0d"/>
  </p:sldMasterIdLst>
  <p:notesMasterIdLst>
    <p:notesMasterId xmlns:r="http://schemas.openxmlformats.org/officeDocument/2006/relationships" r:id="Raa0afb5c5b2f4393"/>
  </p:notesMasterIdLst>
  <p:sldIdLst>
    <p:sldId xmlns:r="http://schemas.openxmlformats.org/officeDocument/2006/relationships" id="256" r:id="R278f59b9f7cc4976"/>
    <p:sldId xmlns:r="http://schemas.openxmlformats.org/officeDocument/2006/relationships" id="257" r:id="Rcac29e7df1224187"/>
    <p:sldId xmlns:r="http://schemas.openxmlformats.org/officeDocument/2006/relationships" id="258" r:id="Rb125d2031e7246b3"/>
    <p:sldId xmlns:r="http://schemas.openxmlformats.org/officeDocument/2006/relationships" id="259" r:id="Rf6e333c7c602481e"/>
    <p:sldId xmlns:r="http://schemas.openxmlformats.org/officeDocument/2006/relationships" id="260" r:id="R4ca1dd626a4049b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a60ff5a6c49495f" /><Relationship Type="http://schemas.openxmlformats.org/officeDocument/2006/relationships/slideMaster" Target="/ppt/slideMasters/slideMaster1.xml" Id="R22582901e3f24c0d" /><Relationship Type="http://schemas.openxmlformats.org/officeDocument/2006/relationships/notesMaster" Target="/ppt/notesMasters/notesMaster1.xml" Id="Raa0afb5c5b2f4393" /><Relationship Type="http://schemas.openxmlformats.org/officeDocument/2006/relationships/presProps" Target="/ppt/presProps.xml" Id="Rcea3643626e04e4e" /><Relationship Type="http://schemas.openxmlformats.org/officeDocument/2006/relationships/tableStyles" Target="/ppt/tableStyles.xml" Id="Rd78e8e2ab3754eb8" /><Relationship Type="http://schemas.openxmlformats.org/officeDocument/2006/relationships/slide" Target="/ppt/slides/slide1.xml" Id="R278f59b9f7cc4976" /><Relationship Type="http://schemas.openxmlformats.org/officeDocument/2006/relationships/slide" Target="/ppt/slides/slide2.xml" Id="Rcac29e7df1224187" /><Relationship Type="http://schemas.openxmlformats.org/officeDocument/2006/relationships/slide" Target="/ppt/slides/slide3.xml" Id="Rb125d2031e7246b3" /><Relationship Type="http://schemas.openxmlformats.org/officeDocument/2006/relationships/slide" Target="/ppt/slides/slide4.xml" Id="Rf6e333c7c602481e" /><Relationship Type="http://schemas.openxmlformats.org/officeDocument/2006/relationships/slide" Target="/ppt/slides/slide5.xml" Id="R4ca1dd626a4049b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6c76120f7484df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d95d9c2cd3a4e09" /><Relationship Type="http://schemas.openxmlformats.org/officeDocument/2006/relationships/notesMaster" Target="/ppt/notesMasters/notesMaster1.xml" Id="Rf78cc90669d94bb9" /></Relationships>
</file>

<file path=ppt/notesSlides/_rels/notesSlide2.xml.rels>&#65279;<?xml version="1.0" encoding="utf-8"?><Relationships xmlns="http://schemas.openxmlformats.org/package/2006/relationships"><Relationship Type="http://schemas.openxmlformats.org/officeDocument/2006/relationships/slide" Target="/ppt/slides/slide2.xml" Id="Re9de59e326dd4467" /><Relationship Type="http://schemas.openxmlformats.org/officeDocument/2006/relationships/notesMaster" Target="/ppt/notesMasters/notesMaster1.xml" Id="Rf8ac7c6c8ec747f0" /></Relationships>
</file>

<file path=ppt/notesSlides/_rels/notesSlide3.xml.rels>&#65279;<?xml version="1.0" encoding="utf-8"?><Relationships xmlns="http://schemas.openxmlformats.org/package/2006/relationships"><Relationship Type="http://schemas.openxmlformats.org/officeDocument/2006/relationships/slide" Target="/ppt/slides/slide3.xml" Id="R0d5bb692def24194" /><Relationship Type="http://schemas.openxmlformats.org/officeDocument/2006/relationships/notesMaster" Target="/ppt/notesMasters/notesMaster1.xml" Id="R5f92b7e6e6904921" /></Relationships>
</file>

<file path=ppt/notesSlides/_rels/notesSlide4.xml.rels>&#65279;<?xml version="1.0" encoding="utf-8"?><Relationships xmlns="http://schemas.openxmlformats.org/package/2006/relationships"><Relationship Type="http://schemas.openxmlformats.org/officeDocument/2006/relationships/slide" Target="/ppt/slides/slide4.xml" Id="R1794460af95f40e7" /><Relationship Type="http://schemas.openxmlformats.org/officeDocument/2006/relationships/notesMaster" Target="/ppt/notesMasters/notesMaster1.xml" Id="R60f86bc4cf564f00" /></Relationships>
</file>

<file path=ppt/notesSlides/_rels/notesSlide5.xml.rels>&#65279;<?xml version="1.0" encoding="utf-8"?><Relationships xmlns="http://schemas.openxmlformats.org/package/2006/relationships"><Relationship Type="http://schemas.openxmlformats.org/officeDocument/2006/relationships/slide" Target="/ppt/slides/slide5.xml" Id="Rbba2c3586e9b4993" /><Relationship Type="http://schemas.openxmlformats.org/officeDocument/2006/relationships/notesMaster" Target="/ppt/notesMasters/notesMaster1.xml" Id="R6dc5dc8d174f46a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 everyone.</a:t>
            </a:r>
          </a:p>
          <a:p xmlns:a="http://schemas.openxmlformats.org/drawingml/2006/main">
            <a:r>
              <a:t/>
            </a:r>
          </a:p>
          <a:p xmlns:a="http://schemas.openxmlformats.org/drawingml/2006/main">
            <a:r>
              <a:t>Have you ever tried to get a squirrel's attention and been completely ignored?</a:t>
            </a:r>
          </a:p>
          <a:p xmlns:a="http://schemas.openxmlformats.org/drawingml/2006/main">
            <a:r>
              <a:t/>
            </a:r>
          </a:p>
          <a:p xmlns:a="http://schemas.openxmlformats.org/drawingml/2006/main">
            <a:r>
              <a:t>This project starts with a simple question: Can we predict whether a Central Park squirrel will be recorded as indifferent to humans?</a:t>
            </a:r>
          </a:p>
          <a:p xmlns:a="http://schemas.openxmlformats.org/drawingml/2006/main">
            <a:r>
              <a:t/>
            </a:r>
          </a:p>
          <a:p xmlns:a="http://schemas.openxmlformats.org/drawingml/2006/main">
            <a:r>
              <a:t>To answer this question, I used data from the 2018 Central Park Squirrel Census. I first explored several patterns in the data, and then compared two machine-learning models.</a:t>
            </a:r>
          </a:p>
          <a:p xmlns:a="http://schemas.openxmlformats.org/drawingml/2006/main">
            <a:r>
              <a:t/>
            </a:r>
          </a:p>
          <a:p xmlns:a="http://schemas.openxmlformats.org/drawingml/2006/main">
            <a:r>
              <a:t>[Sources]</a:t>
            </a:r>
          </a:p>
          <a:p xmlns:a="http://schemas.openxmlformats.org/drawingml/2006/main">
            <a:r>
              <a:t>- Cover image: AI-generated for this presentation using OpenAI image generation, 2026-09-04.</a:t>
            </a:r>
          </a:p>
          <a:p xmlns:a="http://schemas.openxmlformats.org/drawingml/2006/main">
            <a:r>
              <a:t>- NYC Open Data, 2018 Central Park Squirrel Census: https://data.cityofnewyork.us/api/views/vfnx-vebw/rows.csv?accessType=DOWNLOAD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squirrel dataset contained 3,023 sightings. It included information about each squirrel's traits, location, and behaviors.</a:t>
            </a:r>
          </a:p>
          <a:p xmlns:a="http://schemas.openxmlformats.org/drawingml/2006/main">
            <a:r>
              <a:t/>
            </a:r>
          </a:p>
          <a:p xmlns:a="http://schemas.openxmlformats.org/drawingml/2006/main">
            <a:r>
              <a:t>I also used a second dataset containing 700 observation-session records. This dataset included environmental information, such as the hectare conditions and the number of people collecting data.</a:t>
            </a:r>
          </a:p>
          <a:p xmlns:a="http://schemas.openxmlformats.org/drawingml/2006/main">
            <a:r>
              <a:t/>
            </a:r>
          </a:p>
          <a:p xmlns:a="http://schemas.openxmlformats.org/drawingml/2006/main">
            <a:r>
              <a:t>I merged the two datasets using the hectare, date, and time shift. After the merge, I had 3,014 matched observations.</a:t>
            </a:r>
          </a:p>
          <a:p xmlns:a="http://schemas.openxmlformats.org/drawingml/2006/main">
            <a:r>
              <a:t/>
            </a:r>
          </a:p>
          <a:p xmlns:a="http://schemas.openxmlformats.org/drawingml/2006/main">
            <a:r>
              <a:t>My outcome variable was called “Indifferent.” About 48.1 percent of the squirrels were recorded as indifferent, while 51.9 percent were not. Because the two categories were nearly balanced, always predicting the majority category produced a baseline accuracy of 51.9 percent.</a:t>
            </a:r>
          </a:p>
          <a:p xmlns:a="http://schemas.openxmlformats.org/drawingml/2006/main">
            <a:r>
              <a:t/>
            </a:r>
          </a:p>
          <a:p xmlns:a="http://schemas.openxmlformats.org/drawingml/2006/main">
            <a:r>
              <a:t>My predictors included age, fur color, location, time of day, coordinates, environmental conditions, and behaviors such as running, climbing, eating, and foraging.</a:t>
            </a:r>
          </a:p>
          <a:p xmlns:a="http://schemas.openxmlformats.org/drawingml/2006/main">
            <a:r>
              <a:t/>
            </a:r>
          </a:p>
          <a:p xmlns:a="http://schemas.openxmlformats.org/drawingml/2006/main">
            <a:r>
              <a:t>I excluded variables such as “Approaches” and “Runs from” because they already directly described the squirrel's response to humans. Including them would make the prediction problem too easy and less meaningful.</a:t>
            </a:r>
          </a:p>
          <a:p xmlns:a="http://schemas.openxmlformats.org/drawingml/2006/main">
            <a:r>
              <a:t/>
            </a:r>
          </a:p>
          <a:p xmlns:a="http://schemas.openxmlformats.org/drawingml/2006/main">
            <a:r>
              <a:t>[Sources]</a:t>
            </a:r>
          </a:p>
          <a:p xmlns:a="http://schemas.openxmlformats.org/drawingml/2006/main">
            <a:r>
              <a:t>- NYC Open Data, squirrel observations: https://data.cityofnewyork.us/api/views/vfnx-vebw/rows.csv?accessType=DOWNLOAD</a:t>
            </a:r>
          </a:p>
          <a:p xmlns:a="http://schemas.openxmlformats.org/drawingml/2006/main">
            <a:r>
              <a:t>- NYC Open Data, hectare/session records: https://data.cityofnewyork.us/api/views/ej9h-v6g2/rows.csv?accessType=DOWNLOAD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building the models, I explored how indifference was related to three variables.</a:t>
            </a:r>
          </a:p>
          <a:p xmlns:a="http://schemas.openxmlformats.org/drawingml/2006/main">
            <a:r>
              <a:t/>
            </a:r>
          </a:p>
          <a:p xmlns:a="http://schemas.openxmlformats.org/drawingml/2006/main">
            <a:r>
              <a:t>First, time of day appeared to matter. About 54 percent of squirrels observed in the morning were indifferent, compared with 43.4 percent in the afternoon.</a:t>
            </a:r>
          </a:p>
          <a:p xmlns:a="http://schemas.openxmlformats.org/drawingml/2006/main">
            <a:r>
              <a:t/>
            </a:r>
          </a:p>
          <a:p xmlns:a="http://schemas.openxmlformats.org/drawingml/2006/main">
            <a:r>
              <a:t>Second, foraging had an even larger relationship with indifference. About 55.2 percent of foraging squirrels were indifferent, compared with only 41.8 percent of squirrels that were not foraging.</a:t>
            </a:r>
          </a:p>
          <a:p xmlns:a="http://schemas.openxmlformats.org/drawingml/2006/main">
            <a:r>
              <a:t/>
            </a:r>
          </a:p>
          <a:p xmlns:a="http://schemas.openxmlformats.org/drawingml/2006/main">
            <a:r>
              <a:t>Apparently, squirrels with snacks have less time for humans.</a:t>
            </a:r>
          </a:p>
          <a:p xmlns:a="http://schemas.openxmlformats.org/drawingml/2006/main">
            <a:r>
              <a:t/>
            </a:r>
          </a:p>
          <a:p xmlns:a="http://schemas.openxmlformats.org/drawingml/2006/main">
            <a:r>
              <a:t>Finally, about 50.5 percent of squirrels observed on the ground were indifferent, compared with 42.7 percent of squirrels observed above the ground.</a:t>
            </a:r>
          </a:p>
          <a:p xmlns:a="http://schemas.openxmlformats.org/drawingml/2006/main">
            <a:r>
              <a:t/>
            </a:r>
          </a:p>
          <a:p xmlns:a="http://schemas.openxmlformats.org/drawingml/2006/main">
            <a:r>
              <a:t>These results suggest that behavior and context may contain useful predictive information. However, these are only associations. They do not prove that time, foraging, or location caused the squirrels to become indifferent.</a:t>
            </a:r>
          </a:p>
          <a:p xmlns:a="http://schemas.openxmlformats.org/drawingml/2006/main">
            <a:r>
              <a:t/>
            </a:r>
          </a:p>
          <a:p xmlns:a="http://schemas.openxmlformats.org/drawingml/2006/main">
            <a:r>
              <a:t>[Sources]</a:t>
            </a:r>
          </a:p>
          <a:p xmlns:a="http://schemas.openxmlformats.org/drawingml/2006/main">
            <a:r>
              <a:t>- User-created analysis chart based on NYC Open Data, 2018 Central Park Squirrel Census: https://data.cityofnewyork.us/api/views/vfnx-vebw/rows.csv?accessType=DOWNLOAD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Next, I prepared the data for machine learning. I converted the categorical variables into dummy variables and divided the data into a training set and a testing set.</a:t>
            </a:r>
          </a:p>
          <a:p xmlns:a="http://schemas.openxmlformats.org/drawingml/2006/main">
            <a:r>
              <a:t/>
            </a:r>
          </a:p>
          <a:p xmlns:a="http://schemas.openxmlformats.org/drawingml/2006/main">
            <a:r>
              <a:t>I compared logistic regression with random forest. I also used five-fold cross-validation to check whether the results were stable across different parts of the training data.</a:t>
            </a:r>
          </a:p>
          <a:p xmlns:a="http://schemas.openxmlformats.org/drawingml/2006/main">
            <a:r>
              <a:t/>
            </a:r>
          </a:p>
          <a:p xmlns:a="http://schemas.openxmlformats.org/drawingml/2006/main">
            <a:r>
              <a:t>Logistic regression achieved 59.8 percent testing accuracy, compared with the 51.9 percent baseline.</a:t>
            </a:r>
          </a:p>
          <a:p xmlns:a="http://schemas.openxmlformats.org/drawingml/2006/main">
            <a:r>
              <a:t/>
            </a:r>
          </a:p>
          <a:p xmlns:a="http://schemas.openxmlformats.org/drawingml/2006/main">
            <a:r>
              <a:t>Random forest performed better, with 63.5 percent testing accuracy. Its mean cross-validation accuracy was also similar, at 64.6 percent.</a:t>
            </a:r>
          </a:p>
          <a:p xmlns:a="http://schemas.openxmlformats.org/drawingml/2006/main">
            <a:r>
              <a:t/>
            </a:r>
          </a:p>
          <a:p xmlns:a="http://schemas.openxmlformats.org/drawingml/2006/main">
            <a:r>
              <a:t>Random forest was a natural choice for this project because we are studying squirrels, trees, and forests.</a:t>
            </a:r>
          </a:p>
          <a:p xmlns:a="http://schemas.openxmlformats.org/drawingml/2006/main">
            <a:r>
              <a:t/>
            </a:r>
          </a:p>
          <a:p xmlns:a="http://schemas.openxmlformats.org/drawingml/2006/main">
            <a:r>
              <a:t>However, the random forest achieved 100 percent training accuracy. This suggests overfitting. It basically hoarded the training data like a squirrel hoards nuts.</a:t>
            </a:r>
          </a:p>
          <a:p xmlns:a="http://schemas.openxmlformats.org/drawingml/2006/main">
            <a:r>
              <a:t/>
            </a:r>
          </a:p>
          <a:p xmlns:a="http://schemas.openxmlformats.org/drawingml/2006/main">
            <a:r>
              <a:t>Even with this overfitting, the similar cross-validation and testing scores suggest that the testing result was probably not caused only by one lucky data split.</a:t>
            </a:r>
          </a:p>
          <a:p xmlns:a="http://schemas.openxmlformats.org/drawingml/2006/main">
            <a:r>
              <a:t/>
            </a:r>
          </a:p>
          <a:p xmlns:a="http://schemas.openxmlformats.org/drawingml/2006/main">
            <a:r>
              <a:t>[Sources]</a:t>
            </a:r>
          </a:p>
          <a:p xmlns:a="http://schemas.openxmlformats.org/drawingml/2006/main">
            <a:r>
              <a:t>- User-created model comparison chart based on NYC Open Data, 2018 Central Park Squirrel Census: https://data.cityofnewyork.us/api/views/vfnx-vebw/rows.csv?accessType=DOWNLOAD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 can we predict whether a Central Park squirrel will ignore humans?</a:t>
            </a:r>
          </a:p>
          <a:p xmlns:a="http://schemas.openxmlformats.org/drawingml/2006/main">
            <a:r>
              <a:t/>
            </a:r>
          </a:p>
          <a:p xmlns:a="http://schemas.openxmlformats.org/drawingml/2006/main">
            <a:r>
              <a:t>The answer is yes, but only somewhat.</a:t>
            </a:r>
          </a:p>
          <a:p xmlns:a="http://schemas.openxmlformats.org/drawingml/2006/main">
            <a:r>
              <a:t/>
            </a:r>
          </a:p>
          <a:p xmlns:a="http://schemas.openxmlformats.org/drawingml/2006/main">
            <a:r>
              <a:t>The random forest improved testing accuracy by 11.6 percentage points over the baseline. It correctly classified 479 of the 754 testing observations, but it still misclassified 275.</a:t>
            </a:r>
          </a:p>
          <a:p xmlns:a="http://schemas.openxmlformats.org/drawingml/2006/main">
            <a:r>
              <a:t/>
            </a:r>
          </a:p>
          <a:p xmlns:a="http://schemas.openxmlformats.org/drawingml/2006/main">
            <a:r>
              <a:t>This project also has several limitations. “Indifferent” was based on the volunteers' interpretation of squirrel behavior. Some information was missing, and sightings collected during the same observation session may not have been completely independent. Because this was observational data, the results also cannot establish causation.</a:t>
            </a:r>
          </a:p>
          <a:p xmlns:a="http://schemas.openxmlformats.org/drawingml/2006/main">
            <a:r>
              <a:t/>
            </a:r>
          </a:p>
          <a:p xmlns:a="http://schemas.openxmlformats.org/drawingml/2006/main">
            <a:r>
              <a:t>Overall, squirrel traits, behaviors, and environmental context contained useful information, but squirrel indifference was still difficult to predict reliably.</a:t>
            </a:r>
          </a:p>
          <a:p xmlns:a="http://schemas.openxmlformats.org/drawingml/2006/main">
            <a:r>
              <a:t/>
            </a:r>
          </a:p>
          <a:p xmlns:a="http://schemas.openxmlformats.org/drawingml/2006/main">
            <a:r>
              <a:t>So, if a squirrel ignores you, do not take it personally. Our best model is still wrong more than one-third of the time.</a:t>
            </a:r>
          </a:p>
          <a:p xmlns:a="http://schemas.openxmlformats.org/drawingml/2006/main">
            <a:r>
              <a:t/>
            </a:r>
          </a:p>
          <a:p xmlns:a="http://schemas.openxmlformats.org/drawingml/2006/main">
            <a:r>
              <a:t>Thank you.</a:t>
            </a:r>
          </a:p>
          <a:p xmlns:a="http://schemas.openxmlformats.org/drawingml/2006/main">
            <a:r>
              <a:t/>
            </a:r>
          </a:p>
          <a:p xmlns:a="http://schemas.openxmlformats.org/drawingml/2006/main">
            <a:r>
              <a:t>[Sources]</a:t>
            </a:r>
          </a:p>
          <a:p xmlns:a="http://schemas.openxmlformats.org/drawingml/2006/main">
            <a:r>
              <a:t>- Analysis results derived from NYC Open Data, 2018 Central Park Squirrel Census: https://data.cityofnewyork.us/api/views/vfnx-vebw/rows.csv?accessType=DOWNLOAD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cbad94878af437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5cd36d5897c4b17" /><Relationship Type="http://schemas.openxmlformats.org/officeDocument/2006/relationships/slideLayout" Target="/ppt/slideLayouts/slideLayout1.xml" Id="R0082f39765554e0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082f39765554e0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c14f0b93efd4aeb" /><Relationship Type="http://schemas.openxmlformats.org/officeDocument/2006/relationships/image" Target="/ppt/media/image.png" Id="R4eb5f70ab6774618" /><Relationship Type="http://schemas.openxmlformats.org/officeDocument/2006/relationships/notesSlide" Target="/ppt/notesSlides/notesSlide1.xml" Id="Rc81d03c8fa004a3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f371a11a2ba41ff" /><Relationship Type="http://schemas.openxmlformats.org/officeDocument/2006/relationships/notesSlide" Target="/ppt/notesSlides/notesSlide2.xml" Id="R12631be4ae47489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56561db8079498a" /><Relationship Type="http://schemas.openxmlformats.org/officeDocument/2006/relationships/image" Target="/ppt/media/image2.png" Id="Rf120dae51e3143e5" /><Relationship Type="http://schemas.openxmlformats.org/officeDocument/2006/relationships/notesSlide" Target="/ppt/notesSlides/notesSlide3.xml" Id="R2a3ce9b6f3d2433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c1b01b074914545" /><Relationship Type="http://schemas.openxmlformats.org/officeDocument/2006/relationships/image" Target="/ppt/media/image3.png" Id="Ra558f64d17ca4b1f" /><Relationship Type="http://schemas.openxmlformats.org/officeDocument/2006/relationships/notesSlide" Target="/ppt/notesSlides/notesSlide4.xml" Id="Rc78d4a9abe09462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23a5bfea09b48f1" /><Relationship Type="http://schemas.openxmlformats.org/officeDocument/2006/relationships/notesSlide" Target="/ppt/notesSlides/notesSlide5.xml" Id="R23ec58f6e9bf4961" /></Relationships>
</file>

<file path=ppt/slides/slide1.xml><?xml version="1.0" encoding="utf-8"?>
<p:sld xmlns:p="http://schemas.openxmlformats.org/presentationml/2006/main">
  <p:cSld>
    <p:bg>
      <p:bgPr>
        <a:solidFill xmlns:a="http://schemas.openxmlformats.org/drawingml/2006/main">
          <a:srgbClr val="073B46"/>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4eb5f70ab677461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ottom-band">
            <a:extLst xmlns:a="http://schemas.openxmlformats.org/drawingml/2006/main">
              <a:ext uri="{FF2B5EF4-FFF2-40B4-BE49-F238E27FC236}">
                <a16:creationId xmlns:a16="http://schemas.microsoft.com/office/drawing/2014/main" id="{5A33FCF2-4C13-43CC-A658-0A3AA3FF59FE}"/>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8EC66B"/>
          </a:solidFill>
          <a:ln xmlns:a="http://schemas.openxmlformats.org/drawingml/2006/main" w="0">
            <a:noFill/>
            <a:prstDash val="solid"/>
          </a:ln>
        </p:spPr>
      </p:sp>
      <p:sp>
        <p:nvSpPr>
          <p:cNvPr id="3" name="gold-outline">
            <a:extLst xmlns:a="http://schemas.openxmlformats.org/drawingml/2006/main">
              <a:ext uri="{FF2B5EF4-FFF2-40B4-BE49-F238E27FC236}">
                <a16:creationId xmlns:a16="http://schemas.microsoft.com/office/drawing/2014/main" id="{E20476DF-69B6-433B-90B0-3A48E6AE4732}"/>
              </a:ext>
            </a:extLst>
          </p:cNvPr>
          <p:cNvSpPr>
            <a:spLocks xmlns:a="http://schemas.openxmlformats.org/drawingml/2006/main" noGrp="1"/>
          </p:cNvSpPr>
          <p:nvPr/>
        </p:nvSpPr>
        <p:spPr>
          <a:xfrm xmlns:a="http://schemas.openxmlformats.org/drawingml/2006/main">
            <a:off x="114300" y="114300"/>
            <a:ext cx="11963400" cy="6629400"/>
          </a:xfrm>
          <a:prstGeom xmlns:a="http://schemas.openxmlformats.org/drawingml/2006/main" prst="rect">
            <a:avLst/>
          </a:prstGeom>
          <a:noFill xmlns:a="http://schemas.openxmlformats.org/drawingml/2006/main"/>
          <a:ln xmlns:a="http://schemas.openxmlformats.org/drawingml/2006/main" w="28575">
            <a:solidFill>
              <a:srgbClr val="E4B557"/>
            </a:solidFill>
            <a:prstDash val="solid"/>
          </a:ln>
        </p:spPr>
      </p:sp>
      <p:sp>
        <p:nvSpPr>
          <p:cNvPr id="4" name="deck-title">
            <a:extLst xmlns:a="http://schemas.openxmlformats.org/drawingml/2006/main">
              <a:ext uri="{FF2B5EF4-FFF2-40B4-BE49-F238E27FC236}">
                <a16:creationId xmlns:a16="http://schemas.microsoft.com/office/drawing/2014/main" id="{928484EF-3D3D-4BD9-AB76-DCCFC79AAD9B}"/>
              </a:ext>
            </a:extLst>
          </p:cNvPr>
          <p:cNvSpPr>
            <a:spLocks xmlns:a="http://schemas.openxmlformats.org/drawingml/2006/main" noGrp="1"/>
          </p:cNvSpPr>
          <p:nvPr/>
        </p:nvSpPr>
        <p:spPr>
          <a:xfrm xmlns:a="http://schemas.openxmlformats.org/drawingml/2006/main">
            <a:off x="666750" y="1352550"/>
            <a:ext cx="6191250" cy="2552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4050" b="1" i="0">
                <a:solidFill>
                  <a:srgbClr val="FFFFFF"/>
                </a:solidFill>
              </a:defRPr>
            </a:pPr>
            <a:r>
              <a:rPr sz="4050" b="1" i="0">
                <a:solidFill>
                  <a:srgbClr val="FFFFFF"/>
                </a:solidFill>
              </a:rPr>
              <a:t>Can We Predict Which</a:t>
            </a:r>
          </a:p>
          <a:p xmlns:a="http://schemas.openxmlformats.org/drawingml/2006/main">
            <a:pPr algn="l">
              <a:defRPr sz="4050" b="1" i="0">
                <a:solidFill>
                  <a:srgbClr val="FFFFFF"/>
                </a:solidFill>
              </a:defRPr>
            </a:pPr>
            <a:r>
              <a:rPr sz="4050" b="1" i="0">
                <a:solidFill>
                  <a:srgbClr val="FFFFFF"/>
                </a:solidFill>
              </a:rPr>
              <a:t>Central Park Squirrels</a:t>
            </a:r>
          </a:p>
          <a:p xmlns:a="http://schemas.openxmlformats.org/drawingml/2006/main">
            <a:pPr algn="l">
              <a:defRPr sz="4050" b="1" i="0">
                <a:solidFill>
                  <a:srgbClr val="FFFFFF"/>
                </a:solidFill>
              </a:defRPr>
            </a:pPr>
            <a:r>
              <a:rPr sz="4050" b="1" i="0">
                <a:solidFill>
                  <a:srgbClr val="FFFFFF"/>
                </a:solidFill>
              </a:rPr>
              <a:t>Ignore Humans?</a:t>
            </a:r>
          </a:p>
        </p:txBody>
      </p:sp>
      <p:sp>
        <p:nvSpPr>
          <p:cNvPr id="5" name="subtitle">
            <a:extLst xmlns:a="http://schemas.openxmlformats.org/drawingml/2006/main">
              <a:ext uri="{FF2B5EF4-FFF2-40B4-BE49-F238E27FC236}">
                <a16:creationId xmlns:a16="http://schemas.microsoft.com/office/drawing/2014/main" id="{CA7313A5-DDBE-4214-974F-470CC29CE8DF}"/>
              </a:ext>
            </a:extLst>
          </p:cNvPr>
          <p:cNvSpPr>
            <a:spLocks xmlns:a="http://schemas.openxmlformats.org/drawingml/2006/main" noGrp="1"/>
          </p:cNvSpPr>
          <p:nvPr/>
        </p:nvSpPr>
        <p:spPr>
          <a:xfrm xmlns:a="http://schemas.openxmlformats.org/drawingml/2006/main">
            <a:off x="704850" y="409575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i="0">
                <a:solidFill>
                  <a:srgbClr val="C9E4A8"/>
                </a:solidFill>
              </a:defRPr>
            </a:pPr>
            <a:r>
              <a:rPr sz="1650" b="1" i="0">
                <a:solidFill>
                  <a:srgbClr val="C9E4A8"/>
                </a:solidFill>
              </a:rPr>
              <a:t>2018 Central Park Squirrel Census</a:t>
            </a:r>
          </a:p>
        </p:txBody>
      </p:sp>
      <p:sp>
        <p:nvSpPr>
          <p:cNvPr id="6" name="author">
            <a:extLst xmlns:a="http://schemas.openxmlformats.org/drawingml/2006/main">
              <a:ext uri="{FF2B5EF4-FFF2-40B4-BE49-F238E27FC236}">
                <a16:creationId xmlns:a16="http://schemas.microsoft.com/office/drawing/2014/main" id="{7442425A-D6A8-4890-85E6-787AD491C98F}"/>
              </a:ext>
            </a:extLst>
          </p:cNvPr>
          <p:cNvSpPr>
            <a:spLocks xmlns:a="http://schemas.openxmlformats.org/drawingml/2006/main" noGrp="1"/>
          </p:cNvSpPr>
          <p:nvPr/>
        </p:nvSpPr>
        <p:spPr>
          <a:xfrm xmlns:a="http://schemas.openxmlformats.org/drawingml/2006/main">
            <a:off x="685800" y="6296025"/>
            <a:ext cx="590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0">
                <a:solidFill>
                  <a:srgbClr val="073B46"/>
                </a:solidFill>
              </a:defRPr>
            </a:pPr>
            <a:r>
              <a:rPr sz="1500" b="1" i="0">
                <a:solidFill>
                  <a:srgbClr val="073B46"/>
                </a:solidFill>
              </a:rPr>
              <a:t>Zifan Yang  ·  CSS Bootcamp Final Project</a:t>
            </a:r>
          </a:p>
        </p:txBody>
      </p:sp>
    </p:spTree>
    <p:extLst>
      <p:ext uri="{BB962C8B-B14F-4D97-AF65-F5344CB8AC3E}">
        <p14:creationId xmlns:p14="http://schemas.microsoft.com/office/powerpoint/2010/main" val="116451954"/>
      </p:ext>
    </p:extLst>
  </p:cSld>
</p:sld>
</file>

<file path=ppt/slides/slide2.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31" name="header">
            <a:extLst xmlns:a="http://schemas.openxmlformats.org/drawingml/2006/main">
              <a:ext uri="{FF2B5EF4-FFF2-40B4-BE49-F238E27FC236}">
                <a16:creationId xmlns:a16="http://schemas.microsoft.com/office/drawing/2014/main" id="{AB269F2E-00DC-4D63-8576-32B9EDB91D57}"/>
              </a:ext>
            </a:extLst>
          </p:cNvPr>
          <p:cNvSpPr>
            <a:spLocks xmlns:a="http://schemas.openxmlformats.org/drawingml/2006/main" noGrp="1"/>
          </p:cNvSpPr>
          <p:nvPr/>
        </p:nvSpPr>
        <p:spPr>
          <a:xfrm xmlns:a="http://schemas.openxmlformats.org/drawingml/2006/main">
            <a:off x="0" y="0"/>
            <a:ext cx="12192000" cy="1066800"/>
          </a:xfrm>
          <a:prstGeom xmlns:a="http://schemas.openxmlformats.org/drawingml/2006/main" prst="rect">
            <a:avLst/>
          </a:prstGeom>
          <a:solidFill xmlns:a="http://schemas.openxmlformats.org/drawingml/2006/main">
            <a:srgbClr val="0D4D5B"/>
          </a:solidFill>
          <a:ln xmlns:a="http://schemas.openxmlformats.org/drawingml/2006/main" w="0">
            <a:noFill/>
            <a:prstDash val="solid"/>
          </a:ln>
        </p:spPr>
      </p:sp>
      <p:sp>
        <p:nvSpPr>
          <p:cNvPr id="2" name="header-top">
            <a:extLst xmlns:a="http://schemas.openxmlformats.org/drawingml/2006/main">
              <a:ext uri="{FF2B5EF4-FFF2-40B4-BE49-F238E27FC236}">
                <a16:creationId xmlns:a16="http://schemas.microsoft.com/office/drawing/2014/main" id="{E0BCB4DE-D0EE-407A-94D4-DD1149B3A42C}"/>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073B46"/>
          </a:solidFill>
          <a:ln xmlns:a="http://schemas.openxmlformats.org/drawingml/2006/main" w="0">
            <a:noFill/>
            <a:prstDash val="solid"/>
          </a:ln>
        </p:spPr>
      </p:sp>
      <p:sp>
        <p:nvSpPr>
          <p:cNvPr id="3" name="header-accent">
            <a:extLst xmlns:a="http://schemas.openxmlformats.org/drawingml/2006/main">
              <a:ext uri="{FF2B5EF4-FFF2-40B4-BE49-F238E27FC236}">
                <a16:creationId xmlns:a16="http://schemas.microsoft.com/office/drawing/2014/main" id="{C997174F-2949-4A8F-A871-56CEC2271184}"/>
              </a:ext>
            </a:extLst>
          </p:cNvPr>
          <p:cNvSpPr>
            <a:spLocks xmlns:a="http://schemas.openxmlformats.org/drawingml/2006/main" noGrp="1"/>
          </p:cNvSpPr>
          <p:nvPr/>
        </p:nvSpPr>
        <p:spPr>
          <a:xfrm xmlns:a="http://schemas.openxmlformats.org/drawingml/2006/main">
            <a:off x="361950" y="247650"/>
            <a:ext cx="76200" cy="819150"/>
          </a:xfrm>
          <a:prstGeom xmlns:a="http://schemas.openxmlformats.org/drawingml/2006/main" prst="rect">
            <a:avLst/>
          </a:prstGeom>
          <a:solidFill xmlns:a="http://schemas.openxmlformats.org/drawingml/2006/main">
            <a:srgbClr val="8EC66B"/>
          </a:solidFill>
          <a:ln xmlns:a="http://schemas.openxmlformats.org/drawingml/2006/main" w="0">
            <a:noFill/>
            <a:prstDash val="solid"/>
          </a:ln>
        </p:spPr>
      </p:sp>
      <p:sp>
        <p:nvSpPr>
          <p:cNvPr id="4" name="eyebrow">
            <a:extLst xmlns:a="http://schemas.openxmlformats.org/drawingml/2006/main">
              <a:ext uri="{FF2B5EF4-FFF2-40B4-BE49-F238E27FC236}">
                <a16:creationId xmlns:a16="http://schemas.microsoft.com/office/drawing/2014/main" id="{5FA1E627-74D4-4DB7-9139-A4AF70038FE7}"/>
              </a:ext>
            </a:extLst>
          </p:cNvPr>
          <p:cNvSpPr>
            <a:spLocks xmlns:a="http://schemas.openxmlformats.org/drawingml/2006/main" noGrp="1"/>
          </p:cNvSpPr>
          <p:nvPr/>
        </p:nvSpPr>
        <p:spPr>
          <a:xfrm xmlns:a="http://schemas.openxmlformats.org/drawingml/2006/main">
            <a:off x="628650" y="295275"/>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i="0">
                <a:solidFill>
                  <a:srgbClr val="C9E4A8"/>
                </a:solidFill>
              </a:defRPr>
            </a:pPr>
            <a:r>
              <a:rPr sz="1125" b="1" i="0">
                <a:solidFill>
                  <a:srgbClr val="C9E4A8"/>
                </a:solidFill>
              </a:rPr>
              <a:t>CLUE 1 · THE DATA</a:t>
            </a:r>
          </a:p>
        </p:txBody>
      </p:sp>
      <p:sp>
        <p:nvSpPr>
          <p:cNvPr id="5" name="slide-title">
            <a:extLst xmlns:a="http://schemas.openxmlformats.org/drawingml/2006/main">
              <a:ext uri="{FF2B5EF4-FFF2-40B4-BE49-F238E27FC236}">
                <a16:creationId xmlns:a16="http://schemas.microsoft.com/office/drawing/2014/main" id="{D64D8A38-D03F-456D-AE5B-DA9754D896DA}"/>
              </a:ext>
            </a:extLst>
          </p:cNvPr>
          <p:cNvSpPr>
            <a:spLocks xmlns:a="http://schemas.openxmlformats.org/drawingml/2006/main" noGrp="1"/>
          </p:cNvSpPr>
          <p:nvPr/>
        </p:nvSpPr>
        <p:spPr>
          <a:xfrm xmlns:a="http://schemas.openxmlformats.org/drawingml/2006/main">
            <a:off x="609600" y="504825"/>
            <a:ext cx="108394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i="0">
                <a:solidFill>
                  <a:srgbClr val="FFFFFF"/>
                </a:solidFill>
              </a:defRPr>
            </a:pPr>
            <a:r>
              <a:rPr sz="2700" b="1" i="0">
                <a:solidFill>
                  <a:srgbClr val="FFFFFF"/>
                </a:solidFill>
              </a:rPr>
              <a:t>3,014 Sightings Became a Prediction Problem</a:t>
            </a:r>
          </a:p>
        </p:txBody>
      </p:sp>
      <p:sp>
        <p:nvSpPr>
          <p:cNvPr id="6" name="n-sightings">
            <a:extLst xmlns:a="http://schemas.openxmlformats.org/drawingml/2006/main">
              <a:ext uri="{FF2B5EF4-FFF2-40B4-BE49-F238E27FC236}">
                <a16:creationId xmlns:a16="http://schemas.microsoft.com/office/drawing/2014/main" id="{249BF0DF-1A75-4A15-890A-C86E52BC0768}"/>
              </a:ext>
            </a:extLst>
          </p:cNvPr>
          <p:cNvSpPr>
            <a:spLocks xmlns:a="http://schemas.openxmlformats.org/drawingml/2006/main" noGrp="1"/>
          </p:cNvSpPr>
          <p:nvPr/>
        </p:nvSpPr>
        <p:spPr>
          <a:xfrm xmlns:a="http://schemas.openxmlformats.org/drawingml/2006/main">
            <a:off x="619125" y="1476375"/>
            <a:ext cx="21431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4200" b="1" i="0">
                <a:solidFill>
                  <a:srgbClr val="0D4D5B"/>
                </a:solidFill>
              </a:defRPr>
            </a:pPr>
            <a:r>
              <a:rPr sz="4200" b="1" i="0">
                <a:solidFill>
                  <a:srgbClr val="0D4D5B"/>
                </a:solidFill>
              </a:rPr>
              <a:t>3,023</a:t>
            </a:r>
          </a:p>
        </p:txBody>
      </p:sp>
      <p:sp>
        <p:nvSpPr>
          <p:cNvPr id="7" name="">
            <a:extLst xmlns:a="http://schemas.openxmlformats.org/drawingml/2006/main">
              <a:ext uri="{FF2B5EF4-FFF2-40B4-BE49-F238E27FC236}">
                <a16:creationId xmlns:a16="http://schemas.microsoft.com/office/drawing/2014/main" id="{FA02D47F-6813-4658-991D-C1EC7A75B763}"/>
              </a:ext>
            </a:extLst>
          </p:cNvPr>
          <p:cNvSpPr>
            <a:spLocks xmlns:a="http://schemas.openxmlformats.org/drawingml/2006/main" noGrp="1"/>
          </p:cNvSpPr>
          <p:nvPr/>
        </p:nvSpPr>
        <p:spPr>
          <a:xfrm xmlns:a="http://schemas.openxmlformats.org/drawingml/2006/main">
            <a:off x="619125" y="2171700"/>
            <a:ext cx="2143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0" i="0">
                <a:solidFill>
                  <a:srgbClr val="607277"/>
                </a:solidFill>
              </a:defRPr>
            </a:pPr>
            <a:r>
              <a:rPr sz="1500" b="0" i="0">
                <a:solidFill>
                  <a:srgbClr val="607277"/>
                </a:solidFill>
              </a:rPr>
              <a:t>squirrel sightings</a:t>
            </a:r>
          </a:p>
        </p:txBody>
      </p:sp>
      <p:sp>
        <p:nvSpPr>
          <p:cNvPr id="8" name="">
            <a:extLst xmlns:a="http://schemas.openxmlformats.org/drawingml/2006/main">
              <a:ext uri="{FF2B5EF4-FFF2-40B4-BE49-F238E27FC236}">
                <a16:creationId xmlns:a16="http://schemas.microsoft.com/office/drawing/2014/main" id="{7B837587-05B4-45FD-BF87-C1DB821C4928}"/>
              </a:ext>
            </a:extLst>
          </p:cNvPr>
          <p:cNvSpPr>
            <a:spLocks xmlns:a="http://schemas.openxmlformats.org/drawingml/2006/main" noGrp="1"/>
          </p:cNvSpPr>
          <p:nvPr/>
        </p:nvSpPr>
        <p:spPr>
          <a:xfrm xmlns:a="http://schemas.openxmlformats.org/drawingml/2006/main">
            <a:off x="2876550" y="1581150"/>
            <a:ext cx="5905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600" b="1" i="0">
                <a:solidFill>
                  <a:srgbClr val="8EC66B"/>
                </a:solidFill>
              </a:defRPr>
            </a:pPr>
            <a:r>
              <a:rPr sz="3600" b="1" i="0">
                <a:solidFill>
                  <a:srgbClr val="8EC66B"/>
                </a:solidFill>
              </a:rPr>
              <a:t>+</a:t>
            </a:r>
          </a:p>
        </p:txBody>
      </p:sp>
      <p:sp>
        <p:nvSpPr>
          <p:cNvPr id="9" name="n-sessions">
            <a:extLst xmlns:a="http://schemas.openxmlformats.org/drawingml/2006/main">
              <a:ext uri="{FF2B5EF4-FFF2-40B4-BE49-F238E27FC236}">
                <a16:creationId xmlns:a16="http://schemas.microsoft.com/office/drawing/2014/main" id="{969EE6EC-E5B9-4427-9BB6-FAAD0A85ADCC}"/>
              </a:ext>
            </a:extLst>
          </p:cNvPr>
          <p:cNvSpPr>
            <a:spLocks xmlns:a="http://schemas.openxmlformats.org/drawingml/2006/main" noGrp="1"/>
          </p:cNvSpPr>
          <p:nvPr/>
        </p:nvSpPr>
        <p:spPr>
          <a:xfrm xmlns:a="http://schemas.openxmlformats.org/drawingml/2006/main">
            <a:off x="3590925" y="1476375"/>
            <a:ext cx="2000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4200" b="1" i="0">
                <a:solidFill>
                  <a:srgbClr val="0D4D5B"/>
                </a:solidFill>
              </a:defRPr>
            </a:pPr>
            <a:r>
              <a:rPr sz="4200" b="1" i="0">
                <a:solidFill>
                  <a:srgbClr val="0D4D5B"/>
                </a:solidFill>
              </a:rPr>
              <a:t>700</a:t>
            </a:r>
          </a:p>
        </p:txBody>
      </p:sp>
      <p:sp>
        <p:nvSpPr>
          <p:cNvPr id="10" name="">
            <a:extLst xmlns:a="http://schemas.openxmlformats.org/drawingml/2006/main">
              <a:ext uri="{FF2B5EF4-FFF2-40B4-BE49-F238E27FC236}">
                <a16:creationId xmlns:a16="http://schemas.microsoft.com/office/drawing/2014/main" id="{23006038-1952-483C-9C7F-568A70ED9B7F}"/>
              </a:ext>
            </a:extLst>
          </p:cNvPr>
          <p:cNvSpPr>
            <a:spLocks xmlns:a="http://schemas.openxmlformats.org/drawingml/2006/main" noGrp="1"/>
          </p:cNvSpPr>
          <p:nvPr/>
        </p:nvSpPr>
        <p:spPr>
          <a:xfrm xmlns:a="http://schemas.openxmlformats.org/drawingml/2006/main">
            <a:off x="3400425" y="21717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0" i="0">
                <a:solidFill>
                  <a:srgbClr val="607277"/>
                </a:solidFill>
              </a:defRPr>
            </a:pPr>
            <a:r>
              <a:rPr sz="1500" b="0" i="0">
                <a:solidFill>
                  <a:srgbClr val="607277"/>
                </a:solidFill>
              </a:rPr>
              <a:t>observation sessions</a:t>
            </a:r>
          </a:p>
        </p:txBody>
      </p:sp>
      <p:sp>
        <p:nvSpPr>
          <p:cNvPr id="11" name="">
            <a:extLst xmlns:a="http://schemas.openxmlformats.org/drawingml/2006/main">
              <a:ext uri="{FF2B5EF4-FFF2-40B4-BE49-F238E27FC236}">
                <a16:creationId xmlns:a16="http://schemas.microsoft.com/office/drawing/2014/main" id="{5F75DE50-8A75-40F8-B9C0-A6C8E09E682D}"/>
              </a:ext>
            </a:extLst>
          </p:cNvPr>
          <p:cNvSpPr>
            <a:spLocks xmlns:a="http://schemas.openxmlformats.org/drawingml/2006/main" noGrp="1"/>
          </p:cNvSpPr>
          <p:nvPr/>
        </p:nvSpPr>
        <p:spPr>
          <a:xfrm xmlns:a="http://schemas.openxmlformats.org/drawingml/2006/main">
            <a:off x="5876925" y="1543050"/>
            <a:ext cx="9334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750" b="1" i="0">
                <a:solidFill>
                  <a:srgbClr val="8EC66B"/>
                </a:solidFill>
              </a:defRPr>
            </a:pPr>
            <a:r>
              <a:rPr sz="3750" b="1" i="0">
                <a:solidFill>
                  <a:srgbClr val="8EC66B"/>
                </a:solidFill>
              </a:rPr>
              <a:t>→</a:t>
            </a:r>
          </a:p>
        </p:txBody>
      </p:sp>
      <p:sp>
        <p:nvSpPr>
          <p:cNvPr id="12" name="n-matched">
            <a:extLst xmlns:a="http://schemas.openxmlformats.org/drawingml/2006/main">
              <a:ext uri="{FF2B5EF4-FFF2-40B4-BE49-F238E27FC236}">
                <a16:creationId xmlns:a16="http://schemas.microsoft.com/office/drawing/2014/main" id="{1945BAA7-A489-468C-AD53-FC607C75C8F4}"/>
              </a:ext>
            </a:extLst>
          </p:cNvPr>
          <p:cNvSpPr>
            <a:spLocks xmlns:a="http://schemas.openxmlformats.org/drawingml/2006/main" noGrp="1"/>
          </p:cNvSpPr>
          <p:nvPr/>
        </p:nvSpPr>
        <p:spPr>
          <a:xfrm xmlns:a="http://schemas.openxmlformats.org/drawingml/2006/main">
            <a:off x="6934200" y="1476375"/>
            <a:ext cx="2238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4200" b="1" i="0">
                <a:solidFill>
                  <a:srgbClr val="0D4D5B"/>
                </a:solidFill>
              </a:defRPr>
            </a:pPr>
            <a:r>
              <a:rPr sz="4200" b="1" i="0">
                <a:solidFill>
                  <a:srgbClr val="0D4D5B"/>
                </a:solidFill>
              </a:rPr>
              <a:t>3,014</a:t>
            </a:r>
          </a:p>
        </p:txBody>
      </p:sp>
      <p:sp>
        <p:nvSpPr>
          <p:cNvPr id="13" name="">
            <a:extLst xmlns:a="http://schemas.openxmlformats.org/drawingml/2006/main">
              <a:ext uri="{FF2B5EF4-FFF2-40B4-BE49-F238E27FC236}">
                <a16:creationId xmlns:a16="http://schemas.microsoft.com/office/drawing/2014/main" id="{0AB05A81-0B22-437F-BA80-923A22C10C3E}"/>
              </a:ext>
            </a:extLst>
          </p:cNvPr>
          <p:cNvSpPr>
            <a:spLocks xmlns:a="http://schemas.openxmlformats.org/drawingml/2006/main" noGrp="1"/>
          </p:cNvSpPr>
          <p:nvPr/>
        </p:nvSpPr>
        <p:spPr>
          <a:xfrm xmlns:a="http://schemas.openxmlformats.org/drawingml/2006/main">
            <a:off x="6743700" y="2171700"/>
            <a:ext cx="2619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0" i="0">
                <a:solidFill>
                  <a:srgbClr val="607277"/>
                </a:solidFill>
              </a:defRPr>
            </a:pPr>
            <a:r>
              <a:rPr sz="1500" b="0" i="0">
                <a:solidFill>
                  <a:srgbClr val="607277"/>
                </a:solidFill>
              </a:rPr>
              <a:t>matched observations</a:t>
            </a:r>
          </a:p>
        </p:txBody>
      </p:sp>
      <p:sp>
        <p:nvSpPr>
          <p:cNvPr id="14" name="target-panel">
            <a:extLst xmlns:a="http://schemas.openxmlformats.org/drawingml/2006/main">
              <a:ext uri="{FF2B5EF4-FFF2-40B4-BE49-F238E27FC236}">
                <a16:creationId xmlns:a16="http://schemas.microsoft.com/office/drawing/2014/main" id="{1A4C67C2-DE8E-435F-A99D-6C8E047537AE}"/>
              </a:ext>
            </a:extLst>
          </p:cNvPr>
          <p:cNvSpPr>
            <a:spLocks xmlns:a="http://schemas.openxmlformats.org/drawingml/2006/main" noGrp="1"/>
          </p:cNvSpPr>
          <p:nvPr/>
        </p:nvSpPr>
        <p:spPr>
          <a:xfrm xmlns:a="http://schemas.openxmlformats.org/drawingml/2006/main">
            <a:off x="9620250" y="1285875"/>
            <a:ext cx="2143125" cy="1504950"/>
          </a:xfrm>
          <a:prstGeom xmlns:a="http://schemas.openxmlformats.org/drawingml/2006/main" prst="rect">
            <a:avLst/>
          </a:prstGeom>
          <a:solidFill xmlns:a="http://schemas.openxmlformats.org/drawingml/2006/main">
            <a:srgbClr val="0D4D5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EB4F62F-BB63-4046-AAFB-445211D954BB}"/>
              </a:ext>
            </a:extLst>
          </p:cNvPr>
          <p:cNvSpPr>
            <a:spLocks xmlns:a="http://schemas.openxmlformats.org/drawingml/2006/main" noGrp="1"/>
          </p:cNvSpPr>
          <p:nvPr/>
        </p:nvSpPr>
        <p:spPr>
          <a:xfrm xmlns:a="http://schemas.openxmlformats.org/drawingml/2006/main">
            <a:off x="9763125" y="1438275"/>
            <a:ext cx="185737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750" b="1" i="0">
                <a:solidFill>
                  <a:srgbClr val="FFFFFF"/>
                </a:solidFill>
              </a:defRPr>
            </a:pPr>
            <a:r>
              <a:rPr sz="3750" b="1" i="0">
                <a:solidFill>
                  <a:srgbClr val="FFFFFF"/>
                </a:solidFill>
              </a:rPr>
              <a:t>48.1%</a:t>
            </a:r>
          </a:p>
        </p:txBody>
      </p:sp>
      <p:sp>
        <p:nvSpPr>
          <p:cNvPr id="16" name="">
            <a:extLst xmlns:a="http://schemas.openxmlformats.org/drawingml/2006/main">
              <a:ext uri="{FF2B5EF4-FFF2-40B4-BE49-F238E27FC236}">
                <a16:creationId xmlns:a16="http://schemas.microsoft.com/office/drawing/2014/main" id="{42CA2AB8-F8D1-46F1-833D-025EAFA5625A}"/>
              </a:ext>
            </a:extLst>
          </p:cNvPr>
          <p:cNvSpPr>
            <a:spLocks xmlns:a="http://schemas.openxmlformats.org/drawingml/2006/main" noGrp="1"/>
          </p:cNvSpPr>
          <p:nvPr/>
        </p:nvSpPr>
        <p:spPr>
          <a:xfrm xmlns:a="http://schemas.openxmlformats.org/drawingml/2006/main">
            <a:off x="9810750" y="2124075"/>
            <a:ext cx="17621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i="0">
                <a:solidFill>
                  <a:srgbClr val="C9E4A8"/>
                </a:solidFill>
              </a:defRPr>
            </a:pPr>
            <a:r>
              <a:rPr sz="1500" b="1" i="0">
                <a:solidFill>
                  <a:srgbClr val="C9E4A8"/>
                </a:solidFill>
              </a:rPr>
              <a:t>recorded as</a:t>
            </a:r>
          </a:p>
          <a:p xmlns:a="http://schemas.openxmlformats.org/drawingml/2006/main">
            <a:pPr algn="ctr">
              <a:defRPr sz="1500" b="1" i="0">
                <a:solidFill>
                  <a:srgbClr val="C9E4A8"/>
                </a:solidFill>
              </a:defRPr>
            </a:pPr>
            <a:r>
              <a:rPr sz="1500" b="1" i="0">
                <a:solidFill>
                  <a:srgbClr val="C9E4A8"/>
                </a:solidFill>
              </a:rPr>
              <a:t>indifferent</a:t>
            </a:r>
          </a:p>
        </p:txBody>
      </p:sp>
      <p:sp>
        <p:nvSpPr>
          <p:cNvPr id="17" name="divider">
            <a:extLst xmlns:a="http://schemas.openxmlformats.org/drawingml/2006/main">
              <a:ext uri="{FF2B5EF4-FFF2-40B4-BE49-F238E27FC236}">
                <a16:creationId xmlns:a16="http://schemas.microsoft.com/office/drawing/2014/main" id="{92411AB7-91BB-4583-A0D4-7BD38FE00400}"/>
              </a:ext>
            </a:extLst>
          </p:cNvPr>
          <p:cNvSpPr>
            <a:spLocks xmlns:a="http://schemas.openxmlformats.org/drawingml/2006/main" noGrp="1"/>
          </p:cNvSpPr>
          <p:nvPr/>
        </p:nvSpPr>
        <p:spPr>
          <a:xfrm xmlns:a="http://schemas.openxmlformats.org/drawingml/2006/main">
            <a:off x="714375" y="3095625"/>
            <a:ext cx="10763250" cy="0"/>
          </a:xfrm>
          <a:prstGeom xmlns:a="http://schemas.openxmlformats.org/drawingml/2006/main" prst="line">
            <a:avLst/>
          </a:prstGeom>
          <a:noFill xmlns:a="http://schemas.openxmlformats.org/drawingml/2006/main"/>
          <a:ln xmlns:a="http://schemas.openxmlformats.org/drawingml/2006/main" w="19050">
            <a:solidFill>
              <a:srgbClr val="D7E1DC"/>
            </a:solidFill>
            <a:prstDash val="solid"/>
          </a:ln>
        </p:spPr>
      </p:sp>
      <p:sp>
        <p:nvSpPr>
          <p:cNvPr id="18" name="">
            <a:extLst xmlns:a="http://schemas.openxmlformats.org/drawingml/2006/main">
              <a:ext uri="{FF2B5EF4-FFF2-40B4-BE49-F238E27FC236}">
                <a16:creationId xmlns:a16="http://schemas.microsoft.com/office/drawing/2014/main" id="{E99D812F-BAC8-48D9-8ABB-617F67E4C6BA}"/>
              </a:ext>
            </a:extLst>
          </p:cNvPr>
          <p:cNvSpPr>
            <a:spLocks xmlns:a="http://schemas.openxmlformats.org/drawingml/2006/main" noGrp="1"/>
          </p:cNvSpPr>
          <p:nvPr/>
        </p:nvSpPr>
        <p:spPr>
          <a:xfrm xmlns:a="http://schemas.openxmlformats.org/drawingml/2006/main">
            <a:off x="714375" y="3381375"/>
            <a:ext cx="495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i="0">
                <a:solidFill>
                  <a:srgbClr val="163B43"/>
                </a:solidFill>
              </a:defRPr>
            </a:pPr>
            <a:r>
              <a:rPr sz="2250" b="1" i="0">
                <a:solidFill>
                  <a:srgbClr val="163B43"/>
                </a:solidFill>
              </a:rPr>
              <a:t>What went into the prediction?</a:t>
            </a:r>
          </a:p>
        </p:txBody>
      </p:sp>
      <p:sp>
        <p:nvSpPr>
          <p:cNvPr id="19" name="predictor-accent-0">
            <a:extLst xmlns:a="http://schemas.openxmlformats.org/drawingml/2006/main">
              <a:ext uri="{FF2B5EF4-FFF2-40B4-BE49-F238E27FC236}">
                <a16:creationId xmlns:a16="http://schemas.microsoft.com/office/drawing/2014/main" id="{ECEB5E71-48B0-4D66-A1F3-CA128FA3076B}"/>
              </a:ext>
            </a:extLst>
          </p:cNvPr>
          <p:cNvSpPr>
            <a:spLocks xmlns:a="http://schemas.openxmlformats.org/drawingml/2006/main" noGrp="1"/>
          </p:cNvSpPr>
          <p:nvPr/>
        </p:nvSpPr>
        <p:spPr>
          <a:xfrm xmlns:a="http://schemas.openxmlformats.org/drawingml/2006/main">
            <a:off x="714375" y="4057650"/>
            <a:ext cx="76200" cy="1047750"/>
          </a:xfrm>
          <a:prstGeom xmlns:a="http://schemas.openxmlformats.org/drawingml/2006/main" prst="rect">
            <a:avLst/>
          </a:prstGeom>
          <a:solidFill xmlns:a="http://schemas.openxmlformats.org/drawingml/2006/main">
            <a:srgbClr val="8EC66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6AEC358-F50B-490C-B9F0-F15F462CB816}"/>
              </a:ext>
            </a:extLst>
          </p:cNvPr>
          <p:cNvSpPr>
            <a:spLocks xmlns:a="http://schemas.openxmlformats.org/drawingml/2006/main" noGrp="1"/>
          </p:cNvSpPr>
          <p:nvPr/>
        </p:nvSpPr>
        <p:spPr>
          <a:xfrm xmlns:a="http://schemas.openxmlformats.org/drawingml/2006/main">
            <a:off x="923925" y="4048125"/>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i="0">
                <a:solidFill>
                  <a:srgbClr val="0D4D5B"/>
                </a:solidFill>
              </a:defRPr>
            </a:pPr>
            <a:r>
              <a:rPr sz="1350" b="1" i="0">
                <a:solidFill>
                  <a:srgbClr val="0D4D5B"/>
                </a:solidFill>
              </a:rPr>
              <a:t>TRAITS</a:t>
            </a:r>
          </a:p>
        </p:txBody>
      </p:sp>
      <p:sp>
        <p:nvSpPr>
          <p:cNvPr id="21" name="">
            <a:extLst xmlns:a="http://schemas.openxmlformats.org/drawingml/2006/main">
              <a:ext uri="{FF2B5EF4-FFF2-40B4-BE49-F238E27FC236}">
                <a16:creationId xmlns:a16="http://schemas.microsoft.com/office/drawing/2014/main" id="{2A7A89EE-722A-4B58-BBDA-572B613D1D1C}"/>
              </a:ext>
            </a:extLst>
          </p:cNvPr>
          <p:cNvSpPr>
            <a:spLocks xmlns:a="http://schemas.openxmlformats.org/drawingml/2006/main" noGrp="1"/>
          </p:cNvSpPr>
          <p:nvPr/>
        </p:nvSpPr>
        <p:spPr>
          <a:xfrm xmlns:a="http://schemas.openxmlformats.org/drawingml/2006/main">
            <a:off x="923925" y="4419600"/>
            <a:ext cx="2857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i="0">
                <a:solidFill>
                  <a:srgbClr val="607277"/>
                </a:solidFill>
              </a:defRPr>
            </a:pPr>
            <a:r>
              <a:rPr sz="1575" b="0" i="0">
                <a:solidFill>
                  <a:srgbClr val="607277"/>
                </a:solidFill>
              </a:rPr>
              <a:t>age · fur color</a:t>
            </a:r>
          </a:p>
        </p:txBody>
      </p:sp>
      <p:sp>
        <p:nvSpPr>
          <p:cNvPr id="22" name="predictor-accent-1">
            <a:extLst xmlns:a="http://schemas.openxmlformats.org/drawingml/2006/main">
              <a:ext uri="{FF2B5EF4-FFF2-40B4-BE49-F238E27FC236}">
                <a16:creationId xmlns:a16="http://schemas.microsoft.com/office/drawing/2014/main" id="{F00D5FC2-DAEA-4494-B1E2-C03AF147760F}"/>
              </a:ext>
            </a:extLst>
          </p:cNvPr>
          <p:cNvSpPr>
            <a:spLocks xmlns:a="http://schemas.openxmlformats.org/drawingml/2006/main" noGrp="1"/>
          </p:cNvSpPr>
          <p:nvPr/>
        </p:nvSpPr>
        <p:spPr>
          <a:xfrm xmlns:a="http://schemas.openxmlformats.org/drawingml/2006/main">
            <a:off x="4238625" y="4057650"/>
            <a:ext cx="76200" cy="1047750"/>
          </a:xfrm>
          <a:prstGeom xmlns:a="http://schemas.openxmlformats.org/drawingml/2006/main" prst="rect">
            <a:avLst/>
          </a:prstGeom>
          <a:solidFill xmlns:a="http://schemas.openxmlformats.org/drawingml/2006/main">
            <a:srgbClr val="8EC66B"/>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74F24755-7B20-4819-AC32-FED22DC925D5}"/>
              </a:ext>
            </a:extLst>
          </p:cNvPr>
          <p:cNvSpPr>
            <a:spLocks xmlns:a="http://schemas.openxmlformats.org/drawingml/2006/main" noGrp="1"/>
          </p:cNvSpPr>
          <p:nvPr/>
        </p:nvSpPr>
        <p:spPr>
          <a:xfrm xmlns:a="http://schemas.openxmlformats.org/drawingml/2006/main">
            <a:off x="4448175" y="4048125"/>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i="0">
                <a:solidFill>
                  <a:srgbClr val="0D4D5B"/>
                </a:solidFill>
              </a:defRPr>
            </a:pPr>
            <a:r>
              <a:rPr sz="1350" b="1" i="0">
                <a:solidFill>
                  <a:srgbClr val="0D4D5B"/>
                </a:solidFill>
              </a:rPr>
              <a:t>BEHAVIORS</a:t>
            </a:r>
          </a:p>
        </p:txBody>
      </p:sp>
      <p:sp>
        <p:nvSpPr>
          <p:cNvPr id="24" name="">
            <a:extLst xmlns:a="http://schemas.openxmlformats.org/drawingml/2006/main">
              <a:ext uri="{FF2B5EF4-FFF2-40B4-BE49-F238E27FC236}">
                <a16:creationId xmlns:a16="http://schemas.microsoft.com/office/drawing/2014/main" id="{2E8E624A-69CF-470A-8589-92AE04AEBF1B}"/>
              </a:ext>
            </a:extLst>
          </p:cNvPr>
          <p:cNvSpPr>
            <a:spLocks xmlns:a="http://schemas.openxmlformats.org/drawingml/2006/main" noGrp="1"/>
          </p:cNvSpPr>
          <p:nvPr/>
        </p:nvSpPr>
        <p:spPr>
          <a:xfrm xmlns:a="http://schemas.openxmlformats.org/drawingml/2006/main">
            <a:off x="4448175" y="4419600"/>
            <a:ext cx="2857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i="0">
                <a:solidFill>
                  <a:srgbClr val="607277"/>
                </a:solidFill>
              </a:defRPr>
            </a:pPr>
            <a:r>
              <a:rPr sz="1575" b="0" i="0">
                <a:solidFill>
                  <a:srgbClr val="607277"/>
                </a:solidFill>
              </a:rPr>
              <a:t>foraging · climbing · eating</a:t>
            </a:r>
          </a:p>
        </p:txBody>
      </p:sp>
      <p:sp>
        <p:nvSpPr>
          <p:cNvPr id="25" name="predictor-accent-2">
            <a:extLst xmlns:a="http://schemas.openxmlformats.org/drawingml/2006/main">
              <a:ext uri="{FF2B5EF4-FFF2-40B4-BE49-F238E27FC236}">
                <a16:creationId xmlns:a16="http://schemas.microsoft.com/office/drawing/2014/main" id="{3A25450D-8680-4A38-B666-A7F68DCB0ED5}"/>
              </a:ext>
            </a:extLst>
          </p:cNvPr>
          <p:cNvSpPr>
            <a:spLocks xmlns:a="http://schemas.openxmlformats.org/drawingml/2006/main" noGrp="1"/>
          </p:cNvSpPr>
          <p:nvPr/>
        </p:nvSpPr>
        <p:spPr>
          <a:xfrm xmlns:a="http://schemas.openxmlformats.org/drawingml/2006/main">
            <a:off x="7762875" y="4057650"/>
            <a:ext cx="76200" cy="1047750"/>
          </a:xfrm>
          <a:prstGeom xmlns:a="http://schemas.openxmlformats.org/drawingml/2006/main" prst="rect">
            <a:avLst/>
          </a:prstGeom>
          <a:solidFill xmlns:a="http://schemas.openxmlformats.org/drawingml/2006/main">
            <a:srgbClr val="8EC66B"/>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4AFD2433-0B1B-477C-BDDC-DAA227E17258}"/>
              </a:ext>
            </a:extLst>
          </p:cNvPr>
          <p:cNvSpPr>
            <a:spLocks xmlns:a="http://schemas.openxmlformats.org/drawingml/2006/main" noGrp="1"/>
          </p:cNvSpPr>
          <p:nvPr/>
        </p:nvSpPr>
        <p:spPr>
          <a:xfrm xmlns:a="http://schemas.openxmlformats.org/drawingml/2006/main">
            <a:off x="7972425" y="4048125"/>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i="0">
                <a:solidFill>
                  <a:srgbClr val="0D4D5B"/>
                </a:solidFill>
              </a:defRPr>
            </a:pPr>
            <a:r>
              <a:rPr sz="1350" b="1" i="0">
                <a:solidFill>
                  <a:srgbClr val="0D4D5B"/>
                </a:solidFill>
              </a:rPr>
              <a:t>CONTEXT</a:t>
            </a:r>
          </a:p>
        </p:txBody>
      </p:sp>
      <p:sp>
        <p:nvSpPr>
          <p:cNvPr id="27" name="">
            <a:extLst xmlns:a="http://schemas.openxmlformats.org/drawingml/2006/main">
              <a:ext uri="{FF2B5EF4-FFF2-40B4-BE49-F238E27FC236}">
                <a16:creationId xmlns:a16="http://schemas.microsoft.com/office/drawing/2014/main" id="{7ABB8753-2D08-45CE-BFBA-57822B149828}"/>
              </a:ext>
            </a:extLst>
          </p:cNvPr>
          <p:cNvSpPr>
            <a:spLocks xmlns:a="http://schemas.openxmlformats.org/drawingml/2006/main" noGrp="1"/>
          </p:cNvSpPr>
          <p:nvPr/>
        </p:nvSpPr>
        <p:spPr>
          <a:xfrm xmlns:a="http://schemas.openxmlformats.org/drawingml/2006/main">
            <a:off x="7972425" y="4419600"/>
            <a:ext cx="2857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i="0">
                <a:solidFill>
                  <a:srgbClr val="607277"/>
                </a:solidFill>
              </a:defRPr>
            </a:pPr>
            <a:r>
              <a:rPr sz="1575" b="0" i="0">
                <a:solidFill>
                  <a:srgbClr val="607277"/>
                </a:solidFill>
              </a:rPr>
              <a:t>location · time · conditions</a:t>
            </a:r>
          </a:p>
        </p:txBody>
      </p:sp>
      <p:sp>
        <p:nvSpPr>
          <p:cNvPr id="28" name="footer-band">
            <a:extLst xmlns:a="http://schemas.openxmlformats.org/drawingml/2006/main">
              <a:ext uri="{FF2B5EF4-FFF2-40B4-BE49-F238E27FC236}">
                <a16:creationId xmlns:a16="http://schemas.microsoft.com/office/drawing/2014/main" id="{51295553-BF28-4FAD-99DA-1142D90371E6}"/>
              </a:ext>
            </a:extLst>
          </p:cNvPr>
          <p:cNvSpPr>
            <a:spLocks xmlns:a="http://schemas.openxmlformats.org/drawingml/2006/main" noGrp="1"/>
          </p:cNvSpPr>
          <p:nvPr/>
        </p:nvSpPr>
        <p:spPr>
          <a:xfrm xmlns:a="http://schemas.openxmlformats.org/drawingml/2006/main">
            <a:off x="0" y="6172200"/>
            <a:ext cx="12192000" cy="685800"/>
          </a:xfrm>
          <a:prstGeom xmlns:a="http://schemas.openxmlformats.org/drawingml/2006/main" prst="rect">
            <a:avLst/>
          </a:prstGeom>
          <a:solidFill xmlns:a="http://schemas.openxmlformats.org/drawingml/2006/main">
            <a:srgbClr val="8EC66B"/>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8F5B73E3-7B1A-4758-804A-E19EB4853433}"/>
              </a:ext>
            </a:extLst>
          </p:cNvPr>
          <p:cNvSpPr>
            <a:spLocks xmlns:a="http://schemas.openxmlformats.org/drawingml/2006/main" noGrp="1"/>
          </p:cNvSpPr>
          <p:nvPr/>
        </p:nvSpPr>
        <p:spPr>
          <a:xfrm xmlns:a="http://schemas.openxmlformats.org/drawingml/2006/main">
            <a:off x="552450" y="6238875"/>
            <a:ext cx="752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i="0">
                <a:solidFill>
                  <a:srgbClr val="073B46"/>
                </a:solidFill>
              </a:defRPr>
            </a:pPr>
            <a:r>
              <a:rPr sz="1575" b="1" i="0">
                <a:solidFill>
                  <a:srgbClr val="073B46"/>
                </a:solidFill>
              </a:rPr>
              <a:t>Target was nearly balanced: 48.1% indifferent · 51.9% not indifferent</a:t>
            </a:r>
          </a:p>
        </p:txBody>
      </p:sp>
      <p:sp>
        <p:nvSpPr>
          <p:cNvPr id="30" name="">
            <a:extLst xmlns:a="http://schemas.openxmlformats.org/drawingml/2006/main">
              <a:ext uri="{FF2B5EF4-FFF2-40B4-BE49-F238E27FC236}">
                <a16:creationId xmlns:a16="http://schemas.microsoft.com/office/drawing/2014/main" id="{7CC20060-3EEF-4724-A82C-94817D09E9D3}"/>
              </a:ext>
            </a:extLst>
          </p:cNvPr>
          <p:cNvSpPr>
            <a:spLocks xmlns:a="http://schemas.openxmlformats.org/drawingml/2006/main" noGrp="1"/>
          </p:cNvSpPr>
          <p:nvPr/>
        </p:nvSpPr>
        <p:spPr>
          <a:xfrm xmlns:a="http://schemas.openxmlformats.org/drawingml/2006/main">
            <a:off x="8858250" y="6257925"/>
            <a:ext cx="276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200" b="0" i="0">
                <a:solidFill>
                  <a:srgbClr val="073B46"/>
                </a:solidFill>
              </a:defRPr>
            </a:pPr>
            <a:r>
              <a:rPr sz="1200" b="0" i="0">
                <a:solidFill>
                  <a:srgbClr val="073B46"/>
                </a:solidFill>
              </a:rPr>
              <a:t>Source: NYC Open Data</a:t>
            </a:r>
          </a:p>
        </p:txBody>
      </p:sp>
    </p:spTree>
    <p:extLst>
      <p:ext uri="{BB962C8B-B14F-4D97-AF65-F5344CB8AC3E}">
        <p14:creationId xmlns:p14="http://schemas.microsoft.com/office/powerpoint/2010/main" val="1352643302"/>
      </p:ext>
    </p:extLst>
  </p:cSld>
</p:sld>
</file>

<file path=ppt/slides/slide3.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17" name="header">
            <a:extLst xmlns:a="http://schemas.openxmlformats.org/drawingml/2006/main">
              <a:ext uri="{FF2B5EF4-FFF2-40B4-BE49-F238E27FC236}">
                <a16:creationId xmlns:a16="http://schemas.microsoft.com/office/drawing/2014/main" id="{5860CD58-3D42-4B4A-9B4C-A7EA1A24D7C3}"/>
              </a:ext>
            </a:extLst>
          </p:cNvPr>
          <p:cNvSpPr>
            <a:spLocks xmlns:a="http://schemas.openxmlformats.org/drawingml/2006/main" noGrp="1"/>
          </p:cNvSpPr>
          <p:nvPr/>
        </p:nvSpPr>
        <p:spPr>
          <a:xfrm xmlns:a="http://schemas.openxmlformats.org/drawingml/2006/main">
            <a:off x="0" y="0"/>
            <a:ext cx="12192000" cy="1066800"/>
          </a:xfrm>
          <a:prstGeom xmlns:a="http://schemas.openxmlformats.org/drawingml/2006/main" prst="rect">
            <a:avLst/>
          </a:prstGeom>
          <a:solidFill xmlns:a="http://schemas.openxmlformats.org/drawingml/2006/main">
            <a:srgbClr val="0D4D5B"/>
          </a:solidFill>
          <a:ln xmlns:a="http://schemas.openxmlformats.org/drawingml/2006/main" w="0">
            <a:noFill/>
            <a:prstDash val="solid"/>
          </a:ln>
        </p:spPr>
      </p:sp>
      <p:sp>
        <p:nvSpPr>
          <p:cNvPr id="2" name="header-top">
            <a:extLst xmlns:a="http://schemas.openxmlformats.org/drawingml/2006/main">
              <a:ext uri="{FF2B5EF4-FFF2-40B4-BE49-F238E27FC236}">
                <a16:creationId xmlns:a16="http://schemas.microsoft.com/office/drawing/2014/main" id="{03AD9FB1-6A55-4CE4-9780-3F72B2AD8F1A}"/>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073B46"/>
          </a:solidFill>
          <a:ln xmlns:a="http://schemas.openxmlformats.org/drawingml/2006/main" w="0">
            <a:noFill/>
            <a:prstDash val="solid"/>
          </a:ln>
        </p:spPr>
      </p:sp>
      <p:sp>
        <p:nvSpPr>
          <p:cNvPr id="3" name="header-accent">
            <a:extLst xmlns:a="http://schemas.openxmlformats.org/drawingml/2006/main">
              <a:ext uri="{FF2B5EF4-FFF2-40B4-BE49-F238E27FC236}">
                <a16:creationId xmlns:a16="http://schemas.microsoft.com/office/drawing/2014/main" id="{CD68B558-200D-489A-A9F7-8D197A493FC1}"/>
              </a:ext>
            </a:extLst>
          </p:cNvPr>
          <p:cNvSpPr>
            <a:spLocks xmlns:a="http://schemas.openxmlformats.org/drawingml/2006/main" noGrp="1"/>
          </p:cNvSpPr>
          <p:nvPr/>
        </p:nvSpPr>
        <p:spPr>
          <a:xfrm xmlns:a="http://schemas.openxmlformats.org/drawingml/2006/main">
            <a:off x="361950" y="247650"/>
            <a:ext cx="76200" cy="819150"/>
          </a:xfrm>
          <a:prstGeom xmlns:a="http://schemas.openxmlformats.org/drawingml/2006/main" prst="rect">
            <a:avLst/>
          </a:prstGeom>
          <a:solidFill xmlns:a="http://schemas.openxmlformats.org/drawingml/2006/main">
            <a:srgbClr val="8EC66B"/>
          </a:solidFill>
          <a:ln xmlns:a="http://schemas.openxmlformats.org/drawingml/2006/main" w="0">
            <a:noFill/>
            <a:prstDash val="solid"/>
          </a:ln>
        </p:spPr>
      </p:sp>
      <p:sp>
        <p:nvSpPr>
          <p:cNvPr id="4" name="eyebrow">
            <a:extLst xmlns:a="http://schemas.openxmlformats.org/drawingml/2006/main">
              <a:ext uri="{FF2B5EF4-FFF2-40B4-BE49-F238E27FC236}">
                <a16:creationId xmlns:a16="http://schemas.microsoft.com/office/drawing/2014/main" id="{5982AF56-AEBA-4443-9826-D6CD00B38D2E}"/>
              </a:ext>
            </a:extLst>
          </p:cNvPr>
          <p:cNvSpPr>
            <a:spLocks xmlns:a="http://schemas.openxmlformats.org/drawingml/2006/main" noGrp="1"/>
          </p:cNvSpPr>
          <p:nvPr/>
        </p:nvSpPr>
        <p:spPr>
          <a:xfrm xmlns:a="http://schemas.openxmlformats.org/drawingml/2006/main">
            <a:off x="628650" y="295275"/>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i="0">
                <a:solidFill>
                  <a:srgbClr val="C9E4A8"/>
                </a:solidFill>
              </a:defRPr>
            </a:pPr>
            <a:r>
              <a:rPr sz="1125" b="1" i="0">
                <a:solidFill>
                  <a:srgbClr val="C9E4A8"/>
                </a:solidFill>
              </a:rPr>
              <a:t>CLUE 2 · THE PATTERNS</a:t>
            </a:r>
          </a:p>
        </p:txBody>
      </p:sp>
      <p:sp>
        <p:nvSpPr>
          <p:cNvPr id="5" name="slide-title">
            <a:extLst xmlns:a="http://schemas.openxmlformats.org/drawingml/2006/main">
              <a:ext uri="{FF2B5EF4-FFF2-40B4-BE49-F238E27FC236}">
                <a16:creationId xmlns:a16="http://schemas.microsoft.com/office/drawing/2014/main" id="{13CA15D0-1FD8-4D5E-A761-A86B08FBDDA5}"/>
              </a:ext>
            </a:extLst>
          </p:cNvPr>
          <p:cNvSpPr>
            <a:spLocks xmlns:a="http://schemas.openxmlformats.org/drawingml/2006/main" noGrp="1"/>
          </p:cNvSpPr>
          <p:nvPr/>
        </p:nvSpPr>
        <p:spPr>
          <a:xfrm xmlns:a="http://schemas.openxmlformats.org/drawingml/2006/main">
            <a:off x="609600" y="504825"/>
            <a:ext cx="108394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i="0">
                <a:solidFill>
                  <a:srgbClr val="FFFFFF"/>
                </a:solidFill>
              </a:defRPr>
            </a:pPr>
            <a:r>
              <a:rPr sz="2700" b="1" i="0">
                <a:solidFill>
                  <a:srgbClr val="FFFFFF"/>
                </a:solidFill>
              </a:rPr>
              <a:t>Foraging Was the Strongest Clue</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f120dae51e3143e5"/>
          <a:stretch xmlns:a="http://schemas.openxmlformats.org/drawingml/2006/main"/>
        </p:blipFill>
        <p:spPr>
          <a:xfrm xmlns:a="http://schemas.openxmlformats.org/drawingml/2006/main">
            <a:off x="304919" y="1257300"/>
            <a:ext cx="11582163" cy="3695700"/>
          </a:xfrm>
          <a:prstGeom xmlns:a="http://schemas.openxmlformats.org/drawingml/2006/main" prst="rect">
            <a:avLst/>
          </a:prstGeom>
        </p:spPr>
      </p:pic>
      <p:sp>
        <p:nvSpPr>
          <p:cNvPr id="7" name="sep-1">
            <a:extLst xmlns:a="http://schemas.openxmlformats.org/drawingml/2006/main">
              <a:ext uri="{FF2B5EF4-FFF2-40B4-BE49-F238E27FC236}">
                <a16:creationId xmlns:a16="http://schemas.microsoft.com/office/drawing/2014/main" id="{10BEB7E5-57F7-4234-9845-BCFED721E2DB}"/>
              </a:ext>
            </a:extLst>
          </p:cNvPr>
          <p:cNvSpPr>
            <a:spLocks xmlns:a="http://schemas.openxmlformats.org/drawingml/2006/main" noGrp="1"/>
          </p:cNvSpPr>
          <p:nvPr/>
        </p:nvSpPr>
        <p:spPr>
          <a:xfrm xmlns:a="http://schemas.openxmlformats.org/drawingml/2006/main">
            <a:off x="4057650" y="5219700"/>
            <a:ext cx="0" cy="666750"/>
          </a:xfrm>
          <a:prstGeom xmlns:a="http://schemas.openxmlformats.org/drawingml/2006/main" prst="line">
            <a:avLst/>
          </a:prstGeom>
          <a:noFill xmlns:a="http://schemas.openxmlformats.org/drawingml/2006/main"/>
          <a:ln xmlns:a="http://schemas.openxmlformats.org/drawingml/2006/main" w="19050">
            <a:solidFill>
              <a:srgbClr val="D7E1DC"/>
            </a:solidFill>
            <a:prstDash val="solid"/>
          </a:ln>
        </p:spPr>
      </p:sp>
      <p:sp>
        <p:nvSpPr>
          <p:cNvPr id="8" name="sep-2">
            <a:extLst xmlns:a="http://schemas.openxmlformats.org/drawingml/2006/main">
              <a:ext uri="{FF2B5EF4-FFF2-40B4-BE49-F238E27FC236}">
                <a16:creationId xmlns:a16="http://schemas.microsoft.com/office/drawing/2014/main" id="{E1CE59D5-A2D2-40A8-8F17-D878BFE1461B}"/>
              </a:ext>
            </a:extLst>
          </p:cNvPr>
          <p:cNvSpPr>
            <a:spLocks xmlns:a="http://schemas.openxmlformats.org/drawingml/2006/main" noGrp="1"/>
          </p:cNvSpPr>
          <p:nvPr/>
        </p:nvSpPr>
        <p:spPr>
          <a:xfrm xmlns:a="http://schemas.openxmlformats.org/drawingml/2006/main">
            <a:off x="8096250" y="5219700"/>
            <a:ext cx="0" cy="666750"/>
          </a:xfrm>
          <a:prstGeom xmlns:a="http://schemas.openxmlformats.org/drawingml/2006/main" prst="line">
            <a:avLst/>
          </a:prstGeom>
          <a:noFill xmlns:a="http://schemas.openxmlformats.org/drawingml/2006/main"/>
          <a:ln xmlns:a="http://schemas.openxmlformats.org/drawingml/2006/main" w="19050">
            <a:solidFill>
              <a:srgbClr val="D7E1DC"/>
            </a:solidFill>
            <a:prstDash val="solid"/>
          </a:ln>
        </p:spPr>
      </p:sp>
      <p:sp>
        <p:nvSpPr>
          <p:cNvPr id="9" name="">
            <a:extLst xmlns:a="http://schemas.openxmlformats.org/drawingml/2006/main">
              <a:ext uri="{FF2B5EF4-FFF2-40B4-BE49-F238E27FC236}">
                <a16:creationId xmlns:a16="http://schemas.microsoft.com/office/drawing/2014/main" id="{AA78AF7E-E4B7-4893-AAD9-6EC449A9E6F0}"/>
              </a:ext>
            </a:extLst>
          </p:cNvPr>
          <p:cNvSpPr>
            <a:spLocks xmlns:a="http://schemas.openxmlformats.org/drawingml/2006/main" noGrp="1"/>
          </p:cNvSpPr>
          <p:nvPr/>
        </p:nvSpPr>
        <p:spPr>
          <a:xfrm xmlns:a="http://schemas.openxmlformats.org/drawingml/2006/main">
            <a:off x="666750" y="5095875"/>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400" b="1" i="0">
                <a:solidFill>
                  <a:srgbClr val="0D4D5B"/>
                </a:solidFill>
              </a:defRPr>
            </a:pPr>
            <a:r>
              <a:rPr sz="2400" b="1" i="0">
                <a:solidFill>
                  <a:srgbClr val="0D4D5B"/>
                </a:solidFill>
              </a:rPr>
              <a:t>+10.6 pp</a:t>
            </a:r>
          </a:p>
        </p:txBody>
      </p:sp>
      <p:sp>
        <p:nvSpPr>
          <p:cNvPr id="10" name="">
            <a:extLst xmlns:a="http://schemas.openxmlformats.org/drawingml/2006/main">
              <a:ext uri="{FF2B5EF4-FFF2-40B4-BE49-F238E27FC236}">
                <a16:creationId xmlns:a16="http://schemas.microsoft.com/office/drawing/2014/main" id="{EE0E39E6-AD0B-4E67-8088-996F1C65FB62}"/>
              </a:ext>
            </a:extLst>
          </p:cNvPr>
          <p:cNvSpPr>
            <a:spLocks xmlns:a="http://schemas.openxmlformats.org/drawingml/2006/main" noGrp="1"/>
          </p:cNvSpPr>
          <p:nvPr/>
        </p:nvSpPr>
        <p:spPr>
          <a:xfrm xmlns:a="http://schemas.openxmlformats.org/drawingml/2006/main">
            <a:off x="666750" y="5524500"/>
            <a:ext cx="295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0" i="0">
                <a:solidFill>
                  <a:srgbClr val="607277"/>
                </a:solidFill>
              </a:defRPr>
            </a:pPr>
            <a:r>
              <a:rPr sz="1350" b="0" i="0">
                <a:solidFill>
                  <a:srgbClr val="607277"/>
                </a:solidFill>
              </a:rPr>
              <a:t>morning vs. afternoon</a:t>
            </a:r>
          </a:p>
        </p:txBody>
      </p:sp>
      <p:sp>
        <p:nvSpPr>
          <p:cNvPr id="11" name="">
            <a:extLst xmlns:a="http://schemas.openxmlformats.org/drawingml/2006/main">
              <a:ext uri="{FF2B5EF4-FFF2-40B4-BE49-F238E27FC236}">
                <a16:creationId xmlns:a16="http://schemas.microsoft.com/office/drawing/2014/main" id="{6AC9060D-8D84-4F02-8057-42ABE528DDD2}"/>
              </a:ext>
            </a:extLst>
          </p:cNvPr>
          <p:cNvSpPr>
            <a:spLocks xmlns:a="http://schemas.openxmlformats.org/drawingml/2006/main" noGrp="1"/>
          </p:cNvSpPr>
          <p:nvPr/>
        </p:nvSpPr>
        <p:spPr>
          <a:xfrm xmlns:a="http://schemas.openxmlformats.org/drawingml/2006/main">
            <a:off x="4495800" y="5095875"/>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400" b="1" i="0">
                <a:solidFill>
                  <a:srgbClr val="8EC66B"/>
                </a:solidFill>
              </a:defRPr>
            </a:pPr>
            <a:r>
              <a:rPr sz="2400" b="1" i="0">
                <a:solidFill>
                  <a:srgbClr val="8EC66B"/>
                </a:solidFill>
              </a:rPr>
              <a:t>+13.3 pp</a:t>
            </a:r>
          </a:p>
        </p:txBody>
      </p:sp>
      <p:sp>
        <p:nvSpPr>
          <p:cNvPr id="12" name="">
            <a:extLst xmlns:a="http://schemas.openxmlformats.org/drawingml/2006/main">
              <a:ext uri="{FF2B5EF4-FFF2-40B4-BE49-F238E27FC236}">
                <a16:creationId xmlns:a16="http://schemas.microsoft.com/office/drawing/2014/main" id="{41D3AA16-3860-45AC-960B-5BC0C5B50BF3}"/>
              </a:ext>
            </a:extLst>
          </p:cNvPr>
          <p:cNvSpPr>
            <a:spLocks xmlns:a="http://schemas.openxmlformats.org/drawingml/2006/main" noGrp="1"/>
          </p:cNvSpPr>
          <p:nvPr/>
        </p:nvSpPr>
        <p:spPr>
          <a:xfrm xmlns:a="http://schemas.openxmlformats.org/drawingml/2006/main">
            <a:off x="4400550" y="5524500"/>
            <a:ext cx="333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0" i="0">
                <a:solidFill>
                  <a:srgbClr val="607277"/>
                </a:solidFill>
              </a:defRPr>
            </a:pPr>
            <a:r>
              <a:rPr sz="1350" b="0" i="0">
                <a:solidFill>
                  <a:srgbClr val="607277"/>
                </a:solidFill>
              </a:rPr>
              <a:t>foraging vs. not foraging</a:t>
            </a:r>
          </a:p>
        </p:txBody>
      </p:sp>
      <p:sp>
        <p:nvSpPr>
          <p:cNvPr id="13" name="">
            <a:extLst xmlns:a="http://schemas.openxmlformats.org/drawingml/2006/main">
              <a:ext uri="{FF2B5EF4-FFF2-40B4-BE49-F238E27FC236}">
                <a16:creationId xmlns:a16="http://schemas.microsoft.com/office/drawing/2014/main" id="{A1FB36C5-7F7B-4137-802D-8F0CE7A18A79}"/>
              </a:ext>
            </a:extLst>
          </p:cNvPr>
          <p:cNvSpPr>
            <a:spLocks xmlns:a="http://schemas.openxmlformats.org/drawingml/2006/main" noGrp="1"/>
          </p:cNvSpPr>
          <p:nvPr/>
        </p:nvSpPr>
        <p:spPr>
          <a:xfrm xmlns:a="http://schemas.openxmlformats.org/drawingml/2006/main">
            <a:off x="8591550" y="5095875"/>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400" b="1" i="0">
                <a:solidFill>
                  <a:srgbClr val="0D4D5B"/>
                </a:solidFill>
              </a:defRPr>
            </a:pPr>
            <a:r>
              <a:rPr sz="2400" b="1" i="0">
                <a:solidFill>
                  <a:srgbClr val="0D4D5B"/>
                </a:solidFill>
              </a:rPr>
              <a:t>+7.8 pp</a:t>
            </a:r>
          </a:p>
        </p:txBody>
      </p:sp>
      <p:sp>
        <p:nvSpPr>
          <p:cNvPr id="14" name="">
            <a:extLst xmlns:a="http://schemas.openxmlformats.org/drawingml/2006/main">
              <a:ext uri="{FF2B5EF4-FFF2-40B4-BE49-F238E27FC236}">
                <a16:creationId xmlns:a16="http://schemas.microsoft.com/office/drawing/2014/main" id="{C168E8BB-AF08-47FC-A5C6-17D9D356260C}"/>
              </a:ext>
            </a:extLst>
          </p:cNvPr>
          <p:cNvSpPr>
            <a:spLocks xmlns:a="http://schemas.openxmlformats.org/drawingml/2006/main" noGrp="1"/>
          </p:cNvSpPr>
          <p:nvPr/>
        </p:nvSpPr>
        <p:spPr>
          <a:xfrm xmlns:a="http://schemas.openxmlformats.org/drawingml/2006/main">
            <a:off x="8429625" y="5524500"/>
            <a:ext cx="3190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0" i="0">
                <a:solidFill>
                  <a:srgbClr val="607277"/>
                </a:solidFill>
              </a:defRPr>
            </a:pPr>
            <a:r>
              <a:rPr sz="1350" b="0" i="0">
                <a:solidFill>
                  <a:srgbClr val="607277"/>
                </a:solidFill>
              </a:rPr>
              <a:t>ground vs. above ground</a:t>
            </a:r>
          </a:p>
        </p:txBody>
      </p:sp>
      <p:sp>
        <p:nvSpPr>
          <p:cNvPr id="15" name="footer-band">
            <a:extLst xmlns:a="http://schemas.openxmlformats.org/drawingml/2006/main">
              <a:ext uri="{FF2B5EF4-FFF2-40B4-BE49-F238E27FC236}">
                <a16:creationId xmlns:a16="http://schemas.microsoft.com/office/drawing/2014/main" id="{AD163E80-6BD4-446D-AD99-F57D0E6D6D5E}"/>
              </a:ext>
            </a:extLst>
          </p:cNvPr>
          <p:cNvSpPr>
            <a:spLocks xmlns:a="http://schemas.openxmlformats.org/drawingml/2006/main" noGrp="1"/>
          </p:cNvSpPr>
          <p:nvPr/>
        </p:nvSpPr>
        <p:spPr>
          <a:xfrm xmlns:a="http://schemas.openxmlformats.org/drawingml/2006/main">
            <a:off x="0" y="6172200"/>
            <a:ext cx="12192000" cy="685800"/>
          </a:xfrm>
          <a:prstGeom xmlns:a="http://schemas.openxmlformats.org/drawingml/2006/main" prst="rect">
            <a:avLst/>
          </a:prstGeom>
          <a:solidFill xmlns:a="http://schemas.openxmlformats.org/drawingml/2006/main">
            <a:srgbClr val="8EC66B"/>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F4534DE-FAA0-46EA-9781-F7812FC4CF09}"/>
              </a:ext>
            </a:extLst>
          </p:cNvPr>
          <p:cNvSpPr>
            <a:spLocks xmlns:a="http://schemas.openxmlformats.org/drawingml/2006/main" noGrp="1"/>
          </p:cNvSpPr>
          <p:nvPr/>
        </p:nvSpPr>
        <p:spPr>
          <a:xfrm xmlns:a="http://schemas.openxmlformats.org/drawingml/2006/main">
            <a:off x="571500" y="6257925"/>
            <a:ext cx="1104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i="0">
                <a:solidFill>
                  <a:srgbClr val="073B46"/>
                </a:solidFill>
              </a:defRPr>
            </a:pPr>
            <a:r>
              <a:rPr sz="1800" b="1" i="0">
                <a:solidFill>
                  <a:srgbClr val="073B46"/>
                </a:solidFill>
              </a:rPr>
              <a:t>Associations—not proof of causation.</a:t>
            </a:r>
          </a:p>
        </p:txBody>
      </p:sp>
    </p:spTree>
    <p:extLst>
      <p:ext uri="{BB962C8B-B14F-4D97-AF65-F5344CB8AC3E}">
        <p14:creationId xmlns:p14="http://schemas.microsoft.com/office/powerpoint/2010/main" val="964260829"/>
      </p:ext>
    </p:extLst>
  </p:cSld>
</p:sld>
</file>

<file path=ppt/slides/slide4.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8" name="header">
            <a:extLst xmlns:a="http://schemas.openxmlformats.org/drawingml/2006/main">
              <a:ext uri="{FF2B5EF4-FFF2-40B4-BE49-F238E27FC236}">
                <a16:creationId xmlns:a16="http://schemas.microsoft.com/office/drawing/2014/main" id="{5A6C6011-2775-48EE-BD8C-03AE226245D5}"/>
              </a:ext>
            </a:extLst>
          </p:cNvPr>
          <p:cNvSpPr>
            <a:spLocks xmlns:a="http://schemas.openxmlformats.org/drawingml/2006/main" noGrp="1"/>
          </p:cNvSpPr>
          <p:nvPr/>
        </p:nvSpPr>
        <p:spPr>
          <a:xfrm xmlns:a="http://schemas.openxmlformats.org/drawingml/2006/main">
            <a:off x="0" y="0"/>
            <a:ext cx="12192000" cy="1066800"/>
          </a:xfrm>
          <a:prstGeom xmlns:a="http://schemas.openxmlformats.org/drawingml/2006/main" prst="rect">
            <a:avLst/>
          </a:prstGeom>
          <a:solidFill xmlns:a="http://schemas.openxmlformats.org/drawingml/2006/main">
            <a:srgbClr val="0D4D5B"/>
          </a:solidFill>
          <a:ln xmlns:a="http://schemas.openxmlformats.org/drawingml/2006/main" w="0">
            <a:noFill/>
            <a:prstDash val="solid"/>
          </a:ln>
        </p:spPr>
      </p:sp>
      <p:sp>
        <p:nvSpPr>
          <p:cNvPr id="2" name="header-top">
            <a:extLst xmlns:a="http://schemas.openxmlformats.org/drawingml/2006/main">
              <a:ext uri="{FF2B5EF4-FFF2-40B4-BE49-F238E27FC236}">
                <a16:creationId xmlns:a16="http://schemas.microsoft.com/office/drawing/2014/main" id="{A1194809-A1B4-44BB-8612-B9F2905DF400}"/>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073B46"/>
          </a:solidFill>
          <a:ln xmlns:a="http://schemas.openxmlformats.org/drawingml/2006/main" w="0">
            <a:noFill/>
            <a:prstDash val="solid"/>
          </a:ln>
        </p:spPr>
      </p:sp>
      <p:sp>
        <p:nvSpPr>
          <p:cNvPr id="3" name="header-accent">
            <a:extLst xmlns:a="http://schemas.openxmlformats.org/drawingml/2006/main">
              <a:ext uri="{FF2B5EF4-FFF2-40B4-BE49-F238E27FC236}">
                <a16:creationId xmlns:a16="http://schemas.microsoft.com/office/drawing/2014/main" id="{152D64A5-D721-4892-B583-3FDA998E93B8}"/>
              </a:ext>
            </a:extLst>
          </p:cNvPr>
          <p:cNvSpPr>
            <a:spLocks xmlns:a="http://schemas.openxmlformats.org/drawingml/2006/main" noGrp="1"/>
          </p:cNvSpPr>
          <p:nvPr/>
        </p:nvSpPr>
        <p:spPr>
          <a:xfrm xmlns:a="http://schemas.openxmlformats.org/drawingml/2006/main">
            <a:off x="361950" y="247650"/>
            <a:ext cx="76200" cy="819150"/>
          </a:xfrm>
          <a:prstGeom xmlns:a="http://schemas.openxmlformats.org/drawingml/2006/main" prst="rect">
            <a:avLst/>
          </a:prstGeom>
          <a:solidFill xmlns:a="http://schemas.openxmlformats.org/drawingml/2006/main">
            <a:srgbClr val="8EC66B"/>
          </a:solidFill>
          <a:ln xmlns:a="http://schemas.openxmlformats.org/drawingml/2006/main" w="0">
            <a:noFill/>
            <a:prstDash val="solid"/>
          </a:ln>
        </p:spPr>
      </p:sp>
      <p:sp>
        <p:nvSpPr>
          <p:cNvPr id="4" name="eyebrow">
            <a:extLst xmlns:a="http://schemas.openxmlformats.org/drawingml/2006/main">
              <a:ext uri="{FF2B5EF4-FFF2-40B4-BE49-F238E27FC236}">
                <a16:creationId xmlns:a16="http://schemas.microsoft.com/office/drawing/2014/main" id="{3B659151-36D9-4FF6-9030-8B9BDF0F6529}"/>
              </a:ext>
            </a:extLst>
          </p:cNvPr>
          <p:cNvSpPr>
            <a:spLocks xmlns:a="http://schemas.openxmlformats.org/drawingml/2006/main" noGrp="1"/>
          </p:cNvSpPr>
          <p:nvPr/>
        </p:nvSpPr>
        <p:spPr>
          <a:xfrm xmlns:a="http://schemas.openxmlformats.org/drawingml/2006/main">
            <a:off x="628650" y="295275"/>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i="0">
                <a:solidFill>
                  <a:srgbClr val="C9E4A8"/>
                </a:solidFill>
              </a:defRPr>
            </a:pPr>
            <a:r>
              <a:rPr sz="1125" b="1" i="0">
                <a:solidFill>
                  <a:srgbClr val="C9E4A8"/>
                </a:solidFill>
              </a:rPr>
              <a:t>THE TEST · MACHINE LEARNING</a:t>
            </a:r>
          </a:p>
        </p:txBody>
      </p:sp>
      <p:sp>
        <p:nvSpPr>
          <p:cNvPr id="5" name="slide-title">
            <a:extLst xmlns:a="http://schemas.openxmlformats.org/drawingml/2006/main">
              <a:ext uri="{FF2B5EF4-FFF2-40B4-BE49-F238E27FC236}">
                <a16:creationId xmlns:a16="http://schemas.microsoft.com/office/drawing/2014/main" id="{8BBF11FA-15FE-488A-9551-A4E77D147835}"/>
              </a:ext>
            </a:extLst>
          </p:cNvPr>
          <p:cNvSpPr>
            <a:spLocks xmlns:a="http://schemas.openxmlformats.org/drawingml/2006/main" noGrp="1"/>
          </p:cNvSpPr>
          <p:nvPr/>
        </p:nvSpPr>
        <p:spPr>
          <a:xfrm xmlns:a="http://schemas.openxmlformats.org/drawingml/2006/main">
            <a:off x="609600" y="504825"/>
            <a:ext cx="108394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700" b="1" i="0">
                <a:solidFill>
                  <a:srgbClr val="FFFFFF"/>
                </a:solidFill>
              </a:defRPr>
            </a:pPr>
            <a:r>
              <a:rPr sz="2700" b="1" i="0">
                <a:solidFill>
                  <a:srgbClr val="FFFFFF"/>
                </a:solidFill>
              </a:rPr>
              <a:t>Random Forest Performed Best—but It Overfit</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a558f64d17ca4b1f"/>
          <a:stretch xmlns:a="http://schemas.openxmlformats.org/drawingml/2006/main"/>
        </p:blipFill>
        <p:spPr>
          <a:xfrm xmlns:a="http://schemas.openxmlformats.org/drawingml/2006/main">
            <a:off x="930135" y="1162050"/>
            <a:ext cx="10331729" cy="5276850"/>
          </a:xfrm>
          <a:prstGeom xmlns:a="http://schemas.openxmlformats.org/drawingml/2006/main" prst="rect">
            <a:avLst/>
          </a:prstGeom>
        </p:spPr>
      </p:pic>
      <p:sp>
        <p:nvSpPr>
          <p:cNvPr id="7" name="bottom-accent">
            <a:extLst xmlns:a="http://schemas.openxmlformats.org/drawingml/2006/main">
              <a:ext uri="{FF2B5EF4-FFF2-40B4-BE49-F238E27FC236}">
                <a16:creationId xmlns:a16="http://schemas.microsoft.com/office/drawing/2014/main" id="{E5F0B9B8-B9F8-49B8-B6AF-1298A1651AB7}"/>
              </a:ext>
            </a:extLst>
          </p:cNvPr>
          <p:cNvSpPr>
            <a:spLocks xmlns:a="http://schemas.openxmlformats.org/drawingml/2006/main" noGrp="1"/>
          </p:cNvSpPr>
          <p:nvPr/>
        </p:nvSpPr>
        <p:spPr>
          <a:xfrm xmlns:a="http://schemas.openxmlformats.org/drawingml/2006/main">
            <a:off x="0" y="6572250"/>
            <a:ext cx="12192000" cy="285750"/>
          </a:xfrm>
          <a:prstGeom xmlns:a="http://schemas.openxmlformats.org/drawingml/2006/main" prst="rect">
            <a:avLst/>
          </a:prstGeom>
          <a:solidFill xmlns:a="http://schemas.openxmlformats.org/drawingml/2006/main">
            <a:srgbClr val="8EC66B"/>
          </a:solidFill>
          <a:ln xmlns:a="http://schemas.openxmlformats.org/drawingml/2006/main" w="0">
            <a:noFill/>
            <a:prstDash val="solid"/>
          </a:ln>
        </p:spPr>
      </p:sp>
    </p:spTree>
    <p:extLst>
      <p:ext uri="{BB962C8B-B14F-4D97-AF65-F5344CB8AC3E}">
        <p14:creationId xmlns:p14="http://schemas.microsoft.com/office/powerpoint/2010/main" val="1724815901"/>
      </p:ext>
    </p:extLst>
  </p:cSld>
</p:sld>
</file>

<file path=ppt/slides/slide5.xml><?xml version="1.0" encoding="utf-8"?>
<p:sld xmlns:p="http://schemas.openxmlformats.org/presentationml/2006/main">
  <p:cSld>
    <p:bg>
      <p:bgPr>
        <a:solidFill xmlns:a="http://schemas.openxmlformats.org/drawingml/2006/main">
          <a:srgbClr val="0D4D5B"/>
        </a:solidFill>
      </p:bgPr>
    </p:bg>
    <p:spTree>
      <p:nvGrpSpPr>
        <p:cNvPr id="1" name=""/>
        <p:cNvGrpSpPr/>
        <p:nvPr/>
      </p:nvGrpSpPr>
      <p:grpSpPr>
        <a:xfrm xmlns:a="http://schemas.openxmlformats.org/drawingml/2006/main"/>
      </p:grpSpPr>
      <p:sp>
        <p:nvSpPr>
          <p:cNvPr id="18" name="top-band">
            <a:extLst xmlns:a="http://schemas.openxmlformats.org/drawingml/2006/main">
              <a:ext uri="{FF2B5EF4-FFF2-40B4-BE49-F238E27FC236}">
                <a16:creationId xmlns:a16="http://schemas.microsoft.com/office/drawing/2014/main" id="{06954A2A-4DEA-43A3-B83A-A3E3EBEC2479}"/>
              </a:ext>
            </a:extLst>
          </p:cNvPr>
          <p:cNvSpPr>
            <a:spLocks xmlns:a="http://schemas.openxmlformats.org/drawingml/2006/main" noGrp="1"/>
          </p:cNvSpPr>
          <p:nvPr/>
        </p:nvSpPr>
        <p:spPr>
          <a:xfrm xmlns:a="http://schemas.openxmlformats.org/drawingml/2006/main">
            <a:off x="0" y="0"/>
            <a:ext cx="12192000" cy="419100"/>
          </a:xfrm>
          <a:prstGeom xmlns:a="http://schemas.openxmlformats.org/drawingml/2006/main" prst="rect">
            <a:avLst/>
          </a:prstGeom>
          <a:solidFill xmlns:a="http://schemas.openxmlformats.org/drawingml/2006/main">
            <a:srgbClr val="073B4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2DCB0AC-9552-4777-A929-F2B8420E3668}"/>
              </a:ext>
            </a:extLst>
          </p:cNvPr>
          <p:cNvSpPr>
            <a:spLocks xmlns:a="http://schemas.openxmlformats.org/drawingml/2006/main" noGrp="1"/>
          </p:cNvSpPr>
          <p:nvPr/>
        </p:nvSpPr>
        <p:spPr>
          <a:xfrm xmlns:a="http://schemas.openxmlformats.org/drawingml/2006/main">
            <a:off x="685800" y="5524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i="0">
                <a:solidFill>
                  <a:srgbClr val="C9E4A8"/>
                </a:solidFill>
              </a:defRPr>
            </a:pPr>
            <a:r>
              <a:rPr sz="1200" b="1" i="0">
                <a:solidFill>
                  <a:srgbClr val="C9E4A8"/>
                </a:solidFill>
              </a:rPr>
              <a:t>FINAL ANSWER</a:t>
            </a:r>
          </a:p>
        </p:txBody>
      </p:sp>
      <p:sp>
        <p:nvSpPr>
          <p:cNvPr id="3" name="">
            <a:extLst xmlns:a="http://schemas.openxmlformats.org/drawingml/2006/main">
              <a:ext uri="{FF2B5EF4-FFF2-40B4-BE49-F238E27FC236}">
                <a16:creationId xmlns:a16="http://schemas.microsoft.com/office/drawing/2014/main" id="{503543F8-2806-4C63-B26D-A8E925F55FBB}"/>
              </a:ext>
            </a:extLst>
          </p:cNvPr>
          <p:cNvSpPr>
            <a:spLocks xmlns:a="http://schemas.openxmlformats.org/drawingml/2006/main" noGrp="1"/>
          </p:cNvSpPr>
          <p:nvPr/>
        </p:nvSpPr>
        <p:spPr>
          <a:xfrm xmlns:a="http://schemas.openxmlformats.org/drawingml/2006/main">
            <a:off x="666750" y="1123950"/>
            <a:ext cx="4381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5700" b="1" i="0">
                <a:solidFill>
                  <a:srgbClr val="FFFFFF"/>
                </a:solidFill>
              </a:defRPr>
            </a:pPr>
            <a:r>
              <a:rPr sz="5700" b="1" i="0">
                <a:solidFill>
                  <a:srgbClr val="FFFFFF"/>
                </a:solidFill>
              </a:rPr>
              <a:t>YES—</a:t>
            </a:r>
          </a:p>
        </p:txBody>
      </p:sp>
      <p:sp>
        <p:nvSpPr>
          <p:cNvPr id="4" name="">
            <a:extLst xmlns:a="http://schemas.openxmlformats.org/drawingml/2006/main">
              <a:ext uri="{FF2B5EF4-FFF2-40B4-BE49-F238E27FC236}">
                <a16:creationId xmlns:a16="http://schemas.microsoft.com/office/drawing/2014/main" id="{D75CB5FC-022F-46E4-A30A-6C8D9E4A3016}"/>
              </a:ext>
            </a:extLst>
          </p:cNvPr>
          <p:cNvSpPr>
            <a:spLocks xmlns:a="http://schemas.openxmlformats.org/drawingml/2006/main" noGrp="1"/>
          </p:cNvSpPr>
          <p:nvPr/>
        </p:nvSpPr>
        <p:spPr>
          <a:xfrm xmlns:a="http://schemas.openxmlformats.org/drawingml/2006/main">
            <a:off x="704850" y="1971675"/>
            <a:ext cx="5143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150" b="1" i="0">
                <a:solidFill>
                  <a:srgbClr val="C9E4A8"/>
                </a:solidFill>
              </a:defRPr>
            </a:pPr>
            <a:r>
              <a:rPr sz="3150" b="1" i="0">
                <a:solidFill>
                  <a:srgbClr val="C9E4A8"/>
                </a:solidFill>
              </a:rPr>
              <a:t>but only somewhat.</a:t>
            </a:r>
          </a:p>
        </p:txBody>
      </p:sp>
      <p:sp>
        <p:nvSpPr>
          <p:cNvPr id="5" name="">
            <a:extLst xmlns:a="http://schemas.openxmlformats.org/drawingml/2006/main">
              <a:ext uri="{FF2B5EF4-FFF2-40B4-BE49-F238E27FC236}">
                <a16:creationId xmlns:a16="http://schemas.microsoft.com/office/drawing/2014/main" id="{25F64544-36D9-4585-A222-5540EC67C0A6}"/>
              </a:ext>
            </a:extLst>
          </p:cNvPr>
          <p:cNvSpPr>
            <a:spLocks xmlns:a="http://schemas.openxmlformats.org/drawingml/2006/main" noGrp="1"/>
          </p:cNvSpPr>
          <p:nvPr/>
        </p:nvSpPr>
        <p:spPr>
          <a:xfrm xmlns:a="http://schemas.openxmlformats.org/drawingml/2006/main">
            <a:off x="723900" y="2905125"/>
            <a:ext cx="57150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0" i="0">
                <a:solidFill>
                  <a:srgbClr val="FFFFFF"/>
                </a:solidFill>
              </a:defRPr>
            </a:pPr>
            <a:r>
              <a:rPr sz="1800" b="0" i="0">
                <a:solidFill>
                  <a:srgbClr val="FFFFFF"/>
                </a:solidFill>
              </a:rPr>
              <a:t>Squirrel traits, behaviors, and context contained useful information—</a:t>
            </a:r>
          </a:p>
          <a:p xmlns:a="http://schemas.openxmlformats.org/drawingml/2006/main">
            <a:pPr algn="l">
              <a:defRPr sz="1800" b="0" i="0">
                <a:solidFill>
                  <a:srgbClr val="FFFFFF"/>
                </a:solidFill>
              </a:defRPr>
            </a:pPr>
            <a:r>
              <a:rPr sz="1800" b="0" i="0">
                <a:solidFill>
                  <a:srgbClr val="FFFFFF"/>
                </a:solidFill>
              </a:rPr>
              <a:t>but indifference remained difficult to predict reliably.</a:t>
            </a:r>
          </a:p>
        </p:txBody>
      </p:sp>
      <p:sp>
        <p:nvSpPr>
          <p:cNvPr id="6" name="vertical-divider">
            <a:extLst xmlns:a="http://schemas.openxmlformats.org/drawingml/2006/main">
              <a:ext uri="{FF2B5EF4-FFF2-40B4-BE49-F238E27FC236}">
                <a16:creationId xmlns:a16="http://schemas.microsoft.com/office/drawing/2014/main" id="{969131BC-59A2-4127-9BCC-2BBA33B28331}"/>
              </a:ext>
            </a:extLst>
          </p:cNvPr>
          <p:cNvSpPr>
            <a:spLocks xmlns:a="http://schemas.openxmlformats.org/drawingml/2006/main" noGrp="1"/>
          </p:cNvSpPr>
          <p:nvPr/>
        </p:nvSpPr>
        <p:spPr>
          <a:xfrm xmlns:a="http://schemas.openxmlformats.org/drawingml/2006/main">
            <a:off x="6743700" y="1000125"/>
            <a:ext cx="0" cy="3810000"/>
          </a:xfrm>
          <a:prstGeom xmlns:a="http://schemas.openxmlformats.org/drawingml/2006/main" prst="line">
            <a:avLst/>
          </a:prstGeom>
          <a:noFill xmlns:a="http://schemas.openxmlformats.org/drawingml/2006/main"/>
          <a:ln xmlns:a="http://schemas.openxmlformats.org/drawingml/2006/main" w="28575">
            <a:solidFill>
              <a:srgbClr val="1E6570"/>
            </a:solidFill>
            <a:prstDash val="solid"/>
          </a:ln>
        </p:spPr>
      </p:sp>
      <p:sp>
        <p:nvSpPr>
          <p:cNvPr id="7" name="">
            <a:extLst xmlns:a="http://schemas.openxmlformats.org/drawingml/2006/main">
              <a:ext uri="{FF2B5EF4-FFF2-40B4-BE49-F238E27FC236}">
                <a16:creationId xmlns:a16="http://schemas.microsoft.com/office/drawing/2014/main" id="{4CD162CC-191E-4363-ADA1-0AA431255BA5}"/>
              </a:ext>
            </a:extLst>
          </p:cNvPr>
          <p:cNvSpPr>
            <a:spLocks xmlns:a="http://schemas.openxmlformats.org/drawingml/2006/main" noGrp="1"/>
          </p:cNvSpPr>
          <p:nvPr/>
        </p:nvSpPr>
        <p:spPr>
          <a:xfrm xmlns:a="http://schemas.openxmlformats.org/drawingml/2006/main">
            <a:off x="7239000" y="981075"/>
            <a:ext cx="4000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5850" b="1" i="0">
                <a:solidFill>
                  <a:srgbClr val="C9E4A8"/>
                </a:solidFill>
              </a:defRPr>
            </a:pPr>
            <a:r>
              <a:rPr sz="5850" b="1" i="0">
                <a:solidFill>
                  <a:srgbClr val="C9E4A8"/>
                </a:solidFill>
              </a:rPr>
              <a:t>63.5%</a:t>
            </a:r>
          </a:p>
        </p:txBody>
      </p:sp>
      <p:sp>
        <p:nvSpPr>
          <p:cNvPr id="8" name="">
            <a:extLst xmlns:a="http://schemas.openxmlformats.org/drawingml/2006/main">
              <a:ext uri="{FF2B5EF4-FFF2-40B4-BE49-F238E27FC236}">
                <a16:creationId xmlns:a16="http://schemas.microsoft.com/office/drawing/2014/main" id="{FB116080-4ADC-4632-BEA7-16EFC0073B52}"/>
              </a:ext>
            </a:extLst>
          </p:cNvPr>
          <p:cNvSpPr>
            <a:spLocks xmlns:a="http://schemas.openxmlformats.org/drawingml/2006/main" noGrp="1"/>
          </p:cNvSpPr>
          <p:nvPr/>
        </p:nvSpPr>
        <p:spPr>
          <a:xfrm xmlns:a="http://schemas.openxmlformats.org/drawingml/2006/main">
            <a:off x="7477125" y="1952625"/>
            <a:ext cx="3524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i="0">
                <a:solidFill>
                  <a:srgbClr val="FFFFFF"/>
                </a:solidFill>
              </a:defRPr>
            </a:pPr>
            <a:r>
              <a:rPr sz="1650" b="1" i="0">
                <a:solidFill>
                  <a:srgbClr val="FFFFFF"/>
                </a:solidFill>
              </a:rPr>
              <a:t>best testing accuracy</a:t>
            </a:r>
          </a:p>
        </p:txBody>
      </p:sp>
      <p:sp>
        <p:nvSpPr>
          <p:cNvPr id="9" name="metric-separator">
            <a:extLst xmlns:a="http://schemas.openxmlformats.org/drawingml/2006/main">
              <a:ext uri="{FF2B5EF4-FFF2-40B4-BE49-F238E27FC236}">
                <a16:creationId xmlns:a16="http://schemas.microsoft.com/office/drawing/2014/main" id="{0AA7DBA9-ACE4-43B9-87D9-201BECE4CDBA}"/>
              </a:ext>
            </a:extLst>
          </p:cNvPr>
          <p:cNvSpPr>
            <a:spLocks xmlns:a="http://schemas.openxmlformats.org/drawingml/2006/main" noGrp="1"/>
          </p:cNvSpPr>
          <p:nvPr/>
        </p:nvSpPr>
        <p:spPr>
          <a:xfrm xmlns:a="http://schemas.openxmlformats.org/drawingml/2006/main">
            <a:off x="7381875" y="2590800"/>
            <a:ext cx="3524250" cy="0"/>
          </a:xfrm>
          <a:prstGeom xmlns:a="http://schemas.openxmlformats.org/drawingml/2006/main" prst="line">
            <a:avLst/>
          </a:prstGeom>
          <a:noFill xmlns:a="http://schemas.openxmlformats.org/drawingml/2006/main"/>
          <a:ln xmlns:a="http://schemas.openxmlformats.org/drawingml/2006/main" w="19050">
            <a:solidFill>
              <a:srgbClr val="1E6570"/>
            </a:solidFill>
            <a:prstDash val="solid"/>
          </a:ln>
        </p:spPr>
      </p:sp>
      <p:sp>
        <p:nvSpPr>
          <p:cNvPr id="10" name="">
            <a:extLst xmlns:a="http://schemas.openxmlformats.org/drawingml/2006/main">
              <a:ext uri="{FF2B5EF4-FFF2-40B4-BE49-F238E27FC236}">
                <a16:creationId xmlns:a16="http://schemas.microsoft.com/office/drawing/2014/main" id="{90F5187C-FA74-4E1E-833A-0A4BC2B06250}"/>
              </a:ext>
            </a:extLst>
          </p:cNvPr>
          <p:cNvSpPr>
            <a:spLocks xmlns:a="http://schemas.openxmlformats.org/drawingml/2006/main" noGrp="1"/>
          </p:cNvSpPr>
          <p:nvPr/>
        </p:nvSpPr>
        <p:spPr>
          <a:xfrm xmlns:a="http://schemas.openxmlformats.org/drawingml/2006/main">
            <a:off x="7239000" y="2838450"/>
            <a:ext cx="4000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300" b="1" i="0">
                <a:solidFill>
                  <a:srgbClr val="FFFFFF"/>
                </a:solidFill>
              </a:defRPr>
            </a:pPr>
            <a:r>
              <a:rPr sz="3300" b="1" i="0">
                <a:solidFill>
                  <a:srgbClr val="FFFFFF"/>
                </a:solidFill>
              </a:rPr>
              <a:t>+11.6 pp</a:t>
            </a:r>
          </a:p>
        </p:txBody>
      </p:sp>
      <p:sp>
        <p:nvSpPr>
          <p:cNvPr id="11" name="">
            <a:extLst xmlns:a="http://schemas.openxmlformats.org/drawingml/2006/main">
              <a:ext uri="{FF2B5EF4-FFF2-40B4-BE49-F238E27FC236}">
                <a16:creationId xmlns:a16="http://schemas.microsoft.com/office/drawing/2014/main" id="{7F5E9396-BC66-4ED6-8799-7132780FC259}"/>
              </a:ext>
            </a:extLst>
          </p:cNvPr>
          <p:cNvSpPr>
            <a:spLocks xmlns:a="http://schemas.openxmlformats.org/drawingml/2006/main" noGrp="1"/>
          </p:cNvSpPr>
          <p:nvPr/>
        </p:nvSpPr>
        <p:spPr>
          <a:xfrm xmlns:a="http://schemas.openxmlformats.org/drawingml/2006/main">
            <a:off x="7477125" y="3448050"/>
            <a:ext cx="3524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0" i="0">
                <a:solidFill>
                  <a:srgbClr val="C9E4A8"/>
                </a:solidFill>
              </a:defRPr>
            </a:pPr>
            <a:r>
              <a:rPr sz="1500" b="0" i="0">
                <a:solidFill>
                  <a:srgbClr val="C9E4A8"/>
                </a:solidFill>
              </a:rPr>
              <a:t>above the baseline</a:t>
            </a:r>
          </a:p>
        </p:txBody>
      </p:sp>
      <p:sp>
        <p:nvSpPr>
          <p:cNvPr id="12" name="">
            <a:extLst xmlns:a="http://schemas.openxmlformats.org/drawingml/2006/main">
              <a:ext uri="{FF2B5EF4-FFF2-40B4-BE49-F238E27FC236}">
                <a16:creationId xmlns:a16="http://schemas.microsoft.com/office/drawing/2014/main" id="{C6CF20C7-9F02-4514-82DF-4E32D172780B}"/>
              </a:ext>
            </a:extLst>
          </p:cNvPr>
          <p:cNvSpPr>
            <a:spLocks xmlns:a="http://schemas.openxmlformats.org/drawingml/2006/main" noGrp="1"/>
          </p:cNvSpPr>
          <p:nvPr/>
        </p:nvSpPr>
        <p:spPr>
          <a:xfrm xmlns:a="http://schemas.openxmlformats.org/drawingml/2006/main">
            <a:off x="7239000" y="4000500"/>
            <a:ext cx="4000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150" b="1" i="0">
                <a:solidFill>
                  <a:srgbClr val="FFFFFF"/>
                </a:solidFill>
              </a:defRPr>
            </a:pPr>
            <a:r>
              <a:rPr sz="3150" b="1" i="0">
                <a:solidFill>
                  <a:srgbClr val="FFFFFF"/>
                </a:solidFill>
              </a:rPr>
              <a:t>275 / 754</a:t>
            </a:r>
          </a:p>
        </p:txBody>
      </p:sp>
      <p:sp>
        <p:nvSpPr>
          <p:cNvPr id="13" name="">
            <a:extLst xmlns:a="http://schemas.openxmlformats.org/drawingml/2006/main">
              <a:ext uri="{FF2B5EF4-FFF2-40B4-BE49-F238E27FC236}">
                <a16:creationId xmlns:a16="http://schemas.microsoft.com/office/drawing/2014/main" id="{F593F0F5-517A-419F-B0FC-29A70A8E6768}"/>
              </a:ext>
            </a:extLst>
          </p:cNvPr>
          <p:cNvSpPr>
            <a:spLocks xmlns:a="http://schemas.openxmlformats.org/drawingml/2006/main" noGrp="1"/>
          </p:cNvSpPr>
          <p:nvPr/>
        </p:nvSpPr>
        <p:spPr>
          <a:xfrm xmlns:a="http://schemas.openxmlformats.org/drawingml/2006/main">
            <a:off x="7239000" y="455295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0" i="0">
                <a:solidFill>
                  <a:srgbClr val="C9E4A8"/>
                </a:solidFill>
              </a:defRPr>
            </a:pPr>
            <a:r>
              <a:rPr sz="1500" b="0" i="0">
                <a:solidFill>
                  <a:srgbClr val="C9E4A8"/>
                </a:solidFill>
              </a:rPr>
              <a:t>test sightings misclassified</a:t>
            </a:r>
          </a:p>
        </p:txBody>
      </p:sp>
      <p:sp>
        <p:nvSpPr>
          <p:cNvPr id="14" name="">
            <a:extLst xmlns:a="http://schemas.openxmlformats.org/drawingml/2006/main">
              <a:ext uri="{FF2B5EF4-FFF2-40B4-BE49-F238E27FC236}">
                <a16:creationId xmlns:a16="http://schemas.microsoft.com/office/drawing/2014/main" id="{FE79E7B5-EDB6-4092-BD80-9353895C67E9}"/>
              </a:ext>
            </a:extLst>
          </p:cNvPr>
          <p:cNvSpPr>
            <a:spLocks xmlns:a="http://schemas.openxmlformats.org/drawingml/2006/main" noGrp="1"/>
          </p:cNvSpPr>
          <p:nvPr/>
        </p:nvSpPr>
        <p:spPr>
          <a:xfrm xmlns:a="http://schemas.openxmlformats.org/drawingml/2006/main">
            <a:off x="723900" y="5095875"/>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i="0">
                <a:solidFill>
                  <a:srgbClr val="C9E4A8"/>
                </a:solidFill>
              </a:defRPr>
            </a:pPr>
            <a:r>
              <a:rPr sz="1200" b="1" i="0">
                <a:solidFill>
                  <a:srgbClr val="C9E4A8"/>
                </a:solidFill>
              </a:rPr>
              <a:t>LIMITATIONS</a:t>
            </a:r>
          </a:p>
        </p:txBody>
      </p:sp>
      <p:sp>
        <p:nvSpPr>
          <p:cNvPr id="15" name="">
            <a:extLst xmlns:a="http://schemas.openxmlformats.org/drawingml/2006/main">
              <a:ext uri="{FF2B5EF4-FFF2-40B4-BE49-F238E27FC236}">
                <a16:creationId xmlns:a16="http://schemas.microsoft.com/office/drawing/2014/main" id="{8B999258-4ADA-4BB3-8CE7-1D705B66F112}"/>
              </a:ext>
            </a:extLst>
          </p:cNvPr>
          <p:cNvSpPr>
            <a:spLocks xmlns:a="http://schemas.openxmlformats.org/drawingml/2006/main" noGrp="1"/>
          </p:cNvSpPr>
          <p:nvPr/>
        </p:nvSpPr>
        <p:spPr>
          <a:xfrm xmlns:a="http://schemas.openxmlformats.org/drawingml/2006/main">
            <a:off x="723900" y="542925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i="0">
                <a:solidFill>
                  <a:srgbClr val="FFFFFF"/>
                </a:solidFill>
              </a:defRPr>
            </a:pPr>
            <a:r>
              <a:rPr sz="1650" b="1" i="0">
                <a:solidFill>
                  <a:srgbClr val="FFFFFF"/>
                </a:solidFill>
              </a:rPr>
              <a:t>Subjective labels  ·  Citizen-science data  ·  Observational study</a:t>
            </a:r>
          </a:p>
        </p:txBody>
      </p:sp>
      <p:sp>
        <p:nvSpPr>
          <p:cNvPr id="16" name="footer-band">
            <a:extLst xmlns:a="http://schemas.openxmlformats.org/drawingml/2006/main">
              <a:ext uri="{FF2B5EF4-FFF2-40B4-BE49-F238E27FC236}">
                <a16:creationId xmlns:a16="http://schemas.microsoft.com/office/drawing/2014/main" id="{5A08A47B-043C-4C3C-966A-E10140FA186D}"/>
              </a:ext>
            </a:extLst>
          </p:cNvPr>
          <p:cNvSpPr>
            <a:spLocks xmlns:a="http://schemas.openxmlformats.org/drawingml/2006/main" noGrp="1"/>
          </p:cNvSpPr>
          <p:nvPr/>
        </p:nvSpPr>
        <p:spPr>
          <a:xfrm xmlns:a="http://schemas.openxmlformats.org/drawingml/2006/main">
            <a:off x="0" y="6172200"/>
            <a:ext cx="12192000" cy="685800"/>
          </a:xfrm>
          <a:prstGeom xmlns:a="http://schemas.openxmlformats.org/drawingml/2006/main" prst="rect">
            <a:avLst/>
          </a:prstGeom>
          <a:solidFill xmlns:a="http://schemas.openxmlformats.org/drawingml/2006/main">
            <a:srgbClr val="8EC66B"/>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6DE4EDD-3661-4774-A593-2FEB17F99D5F}"/>
              </a:ext>
            </a:extLst>
          </p:cNvPr>
          <p:cNvSpPr>
            <a:spLocks xmlns:a="http://schemas.openxmlformats.org/drawingml/2006/main" noGrp="1"/>
          </p:cNvSpPr>
          <p:nvPr/>
        </p:nvSpPr>
        <p:spPr>
          <a:xfrm xmlns:a="http://schemas.openxmlformats.org/drawingml/2006/main">
            <a:off x="619125" y="6238875"/>
            <a:ext cx="1095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025" b="1" i="0">
                <a:solidFill>
                  <a:srgbClr val="073B46"/>
                </a:solidFill>
              </a:defRPr>
            </a:pPr>
            <a:r>
              <a:rPr sz="2025" b="1" i="0">
                <a:solidFill>
                  <a:srgbClr val="073B46"/>
                </a:solidFill>
              </a:rPr>
              <a:t>Squirrel indifference was somewhat predictable.</a:t>
            </a:r>
          </a:p>
        </p:txBody>
      </p:sp>
    </p:spTree>
    <p:extLst>
      <p:ext uri="{BB962C8B-B14F-4D97-AF65-F5344CB8AC3E}">
        <p14:creationId xmlns:p14="http://schemas.microsoft.com/office/powerpoint/2010/main" val="16759998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2026-09-04T01:42:19.4740000Z</dcterms:created>
  <dcterms:modified xsi:type="dcterms:W3CDTF">2026-09-04T01:42:19.4750000Z</dcterms:modified>
</coreProperties>
</file>